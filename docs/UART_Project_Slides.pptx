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7TKJRtra3yhVMtVWRI2+jHAad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9B34EC-566C-4AF8-BD85-23192EB1CD9E}">
  <a:tblStyle styleId="{409B34EC-566C-4AF8-BD85-23192EB1CD9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da81cd2732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3da81cd2732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3da81cd2732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3A5E"/>
        </a:solidFill>
      </p:bgPr>
    </p:bg>
    <p:spTree>
      <p:nvGrpSpPr>
        <p:cNvPr id="17" name="Shape 17"/>
        <p:cNvGrpSpPr/>
        <p:nvPr/>
      </p:nvGrpSpPr>
      <p:grpSpPr>
        <a:xfrm>
          <a:off x="0" y="0"/>
          <a:ext cx="0" cy="0"/>
          <a:chOff x="0" y="0"/>
          <a:chExt cx="0" cy="0"/>
        </a:xfrm>
      </p:grpSpPr>
      <p:sp>
        <p:nvSpPr>
          <p:cNvPr id="18" name="Google Shape;18;p1"/>
          <p:cNvSpPr/>
          <p:nvPr/>
        </p:nvSpPr>
        <p:spPr>
          <a:xfrm>
            <a:off x="0" y="0"/>
            <a:ext cx="9144000" cy="5143500"/>
          </a:xfrm>
          <a:prstGeom prst="rect">
            <a:avLst/>
          </a:prstGeom>
          <a:solidFill>
            <a:srgbClr val="0F20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0" y="2103120"/>
            <a:ext cx="9144000" cy="54864"/>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548640" y="1338140"/>
            <a:ext cx="8046600" cy="8229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UART with Classification Engine</a:t>
            </a:r>
            <a:endParaRPr b="0" i="0" sz="4000" u="none" cap="none" strike="noStrike">
              <a:solidFill>
                <a:schemeClr val="dk1"/>
              </a:solidFill>
              <a:latin typeface="Calibri"/>
              <a:ea typeface="Calibri"/>
              <a:cs typeface="Calibri"/>
              <a:sym typeface="Calibri"/>
            </a:endParaRPr>
          </a:p>
        </p:txBody>
      </p:sp>
      <p:sp>
        <p:nvSpPr>
          <p:cNvPr id="21" name="Google Shape;21;p1"/>
          <p:cNvSpPr/>
          <p:nvPr/>
        </p:nvSpPr>
        <p:spPr>
          <a:xfrm>
            <a:off x="548640" y="2331720"/>
            <a:ext cx="8046720"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2000"/>
              <a:buFont typeface="Calibri"/>
              <a:buNone/>
            </a:pPr>
            <a:r>
              <a:rPr b="0" i="0" lang="en-US" sz="2000" u="none" cap="none" strike="noStrike">
                <a:solidFill>
                  <a:srgbClr val="C8D8F0"/>
                </a:solidFill>
                <a:latin typeface="Calibri"/>
                <a:ea typeface="Calibri"/>
                <a:cs typeface="Calibri"/>
                <a:sym typeface="Calibri"/>
              </a:rPr>
              <a:t>ECGR 4146/5146 — Introduction to VHDL   |   Spring 2026</a:t>
            </a:r>
            <a:endParaRPr b="0" i="0" sz="2000" u="none" cap="none" strike="noStrike">
              <a:solidFill>
                <a:schemeClr val="dk1"/>
              </a:solidFill>
              <a:latin typeface="Calibri"/>
              <a:ea typeface="Calibri"/>
              <a:cs typeface="Calibri"/>
              <a:sym typeface="Calibri"/>
            </a:endParaRPr>
          </a:p>
        </p:txBody>
      </p:sp>
      <p:sp>
        <p:nvSpPr>
          <p:cNvPr id="22" name="Google Shape;22;p1"/>
          <p:cNvSpPr/>
          <p:nvPr/>
        </p:nvSpPr>
        <p:spPr>
          <a:xfrm>
            <a:off x="548640" y="3108960"/>
            <a:ext cx="8046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D8F0"/>
              </a:buClr>
              <a:buSzPts val="1400"/>
              <a:buFont typeface="Calibri"/>
              <a:buNone/>
            </a:pPr>
            <a:r>
              <a:rPr b="0" i="0" lang="en-US" sz="1400" u="none" cap="none" strike="noStrike">
                <a:solidFill>
                  <a:srgbClr val="C8D8F0"/>
                </a:solidFill>
                <a:latin typeface="Calibri"/>
                <a:ea typeface="Calibri"/>
                <a:cs typeface="Calibri"/>
                <a:sym typeface="Calibri"/>
              </a:rPr>
              <a:t>Group Members: Alberto Hernandez  ·  Kenneth Le  ·  Erik Contreras Valdivia ·  </a:t>
            </a:r>
            <a:r>
              <a:rPr lang="en-US">
                <a:solidFill>
                  <a:srgbClr val="C8D8F0"/>
                </a:solidFill>
                <a:latin typeface="Calibri"/>
                <a:ea typeface="Calibri"/>
                <a:cs typeface="Calibri"/>
                <a:sym typeface="Calibri"/>
              </a:rPr>
              <a:t>Sebastian Navarro</a:t>
            </a:r>
            <a:r>
              <a:rPr b="0" i="0" lang="en-US" sz="1400" u="none" cap="none" strike="noStrike">
                <a:solidFill>
                  <a:srgbClr val="C8D8F0"/>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23" name="Google Shape;23;p1"/>
          <p:cNvSpPr/>
          <p:nvPr/>
        </p:nvSpPr>
        <p:spPr>
          <a:xfrm>
            <a:off x="548640" y="3566160"/>
            <a:ext cx="804672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April </a:t>
            </a:r>
            <a:r>
              <a:rPr lang="en-US" sz="1300">
                <a:solidFill>
                  <a:srgbClr val="64748B"/>
                </a:solidFill>
                <a:latin typeface="Calibri"/>
                <a:ea typeface="Calibri"/>
                <a:cs typeface="Calibri"/>
                <a:sym typeface="Calibri"/>
              </a:rPr>
              <a:t>30</a:t>
            </a:r>
            <a:r>
              <a:rPr b="0" i="0" lang="en-US" sz="1300" u="none" cap="none" strike="noStrike">
                <a:solidFill>
                  <a:srgbClr val="64748B"/>
                </a:solidFill>
                <a:latin typeface="Calibri"/>
                <a:ea typeface="Calibri"/>
                <a:cs typeface="Calibri"/>
                <a:sym typeface="Calibri"/>
              </a:rPr>
              <a:t>, 2026</a:t>
            </a:r>
            <a:endParaRPr b="0" i="0" sz="1300" u="none" cap="none" strike="noStrike">
              <a:solidFill>
                <a:schemeClr val="dk1"/>
              </a:solidFill>
              <a:latin typeface="Calibri"/>
              <a:ea typeface="Calibri"/>
              <a:cs typeface="Calibri"/>
              <a:sym typeface="Calibri"/>
            </a:endParaRPr>
          </a:p>
        </p:txBody>
      </p:sp>
      <p:sp>
        <p:nvSpPr>
          <p:cNvPr id="24" name="Google Shape;24;p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9" name="Shape 29"/>
        <p:cNvGrpSpPr/>
        <p:nvPr/>
      </p:nvGrpSpPr>
      <p:grpSpPr>
        <a:xfrm>
          <a:off x="0" y="0"/>
          <a:ext cx="0" cy="0"/>
          <a:chOff x="0" y="0"/>
          <a:chExt cx="0" cy="0"/>
        </a:xfrm>
      </p:grpSpPr>
      <p:sp>
        <p:nvSpPr>
          <p:cNvPr id="30" name="Google Shape;30;p2"/>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Overall System Architecture</a:t>
            </a:r>
            <a:endParaRPr b="0" i="0" sz="2400" u="none" cap="none" strike="noStrike">
              <a:solidFill>
                <a:schemeClr val="dk1"/>
              </a:solidFill>
              <a:latin typeface="Calibri"/>
              <a:ea typeface="Calibri"/>
              <a:cs typeface="Calibri"/>
              <a:sym typeface="Calibri"/>
            </a:endParaRPr>
          </a:p>
        </p:txBody>
      </p:sp>
      <p:sp>
        <p:nvSpPr>
          <p:cNvPr id="33" name="Google Shape;33;p2"/>
          <p:cNvSpPr/>
          <p:nvPr/>
        </p:nvSpPr>
        <p:spPr>
          <a:xfrm>
            <a:off x="201168" y="1097280"/>
            <a:ext cx="1005840" cy="105156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201168"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Serial</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Input</a:t>
            </a:r>
            <a:endParaRPr b="0" i="0" sz="1100" u="none" cap="none" strike="noStrike">
              <a:solidFill>
                <a:schemeClr val="dk1"/>
              </a:solidFill>
              <a:latin typeface="Calibri"/>
              <a:ea typeface="Calibri"/>
              <a:cs typeface="Calibri"/>
              <a:sym typeface="Calibri"/>
            </a:endParaRPr>
          </a:p>
        </p:txBody>
      </p:sp>
      <p:sp>
        <p:nvSpPr>
          <p:cNvPr id="35" name="Google Shape;35;p2"/>
          <p:cNvSpPr/>
          <p:nvPr/>
        </p:nvSpPr>
        <p:spPr>
          <a:xfrm>
            <a:off x="201168"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RX line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idle HIGH</a:t>
            </a:r>
            <a:endParaRPr b="0" i="0" sz="900" u="none" cap="none" strike="noStrike">
              <a:solidFill>
                <a:schemeClr val="dk1"/>
              </a:solidFill>
              <a:latin typeface="Calibri"/>
              <a:ea typeface="Calibri"/>
              <a:cs typeface="Calibri"/>
              <a:sym typeface="Calibri"/>
            </a:endParaRPr>
          </a:p>
        </p:txBody>
      </p:sp>
      <p:cxnSp>
        <p:nvCxnSpPr>
          <p:cNvPr id="36" name="Google Shape;36;p2"/>
          <p:cNvCxnSpPr/>
          <p:nvPr/>
        </p:nvCxnSpPr>
        <p:spPr>
          <a:xfrm>
            <a:off x="1207008"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37" name="Google Shape;37;p2"/>
          <p:cNvSpPr/>
          <p:nvPr/>
        </p:nvSpPr>
        <p:spPr>
          <a:xfrm>
            <a:off x="1316736" y="1097280"/>
            <a:ext cx="1005840" cy="105156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316736"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UART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Receiver</a:t>
            </a:r>
            <a:endParaRPr b="0" i="0" sz="1100" u="none" cap="none" strike="noStrike">
              <a:solidFill>
                <a:schemeClr val="dk1"/>
              </a:solidFill>
              <a:latin typeface="Calibri"/>
              <a:ea typeface="Calibri"/>
              <a:cs typeface="Calibri"/>
              <a:sym typeface="Calibri"/>
            </a:endParaRPr>
          </a:p>
        </p:txBody>
      </p:sp>
      <p:sp>
        <p:nvSpPr>
          <p:cNvPr id="39" name="Google Shape;39;p2"/>
          <p:cNvSpPr/>
          <p:nvPr/>
        </p:nvSpPr>
        <p:spPr>
          <a:xfrm>
            <a:off x="1316736"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4-state FSM</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16× oversample</a:t>
            </a:r>
            <a:endParaRPr b="0" i="0" sz="900" u="none" cap="none" strike="noStrike">
              <a:solidFill>
                <a:schemeClr val="dk1"/>
              </a:solidFill>
              <a:latin typeface="Calibri"/>
              <a:ea typeface="Calibri"/>
              <a:cs typeface="Calibri"/>
              <a:sym typeface="Calibri"/>
            </a:endParaRPr>
          </a:p>
        </p:txBody>
      </p:sp>
      <p:cxnSp>
        <p:nvCxnSpPr>
          <p:cNvPr id="40" name="Google Shape;40;p2"/>
          <p:cNvCxnSpPr/>
          <p:nvPr/>
        </p:nvCxnSpPr>
        <p:spPr>
          <a:xfrm>
            <a:off x="2322576"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41" name="Google Shape;41;p2"/>
          <p:cNvSpPr/>
          <p:nvPr/>
        </p:nvSpPr>
        <p:spPr>
          <a:xfrm>
            <a:off x="2432304" y="1097280"/>
            <a:ext cx="1005840" cy="105156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2432304"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RX</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FIFO</a:t>
            </a:r>
            <a:endParaRPr b="0" i="0" sz="1100" u="none" cap="none" strike="noStrike">
              <a:solidFill>
                <a:schemeClr val="dk1"/>
              </a:solidFill>
              <a:latin typeface="Calibri"/>
              <a:ea typeface="Calibri"/>
              <a:cs typeface="Calibri"/>
              <a:sym typeface="Calibri"/>
            </a:endParaRPr>
          </a:p>
        </p:txBody>
      </p:sp>
      <p:sp>
        <p:nvSpPr>
          <p:cNvPr id="43" name="Google Shape;43;p2"/>
          <p:cNvSpPr/>
          <p:nvPr/>
        </p:nvSpPr>
        <p:spPr>
          <a:xfrm>
            <a:off x="2432304"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16 entries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8-bit wide</a:t>
            </a:r>
            <a:endParaRPr b="0" i="0" sz="900" u="none" cap="none" strike="noStrike">
              <a:solidFill>
                <a:schemeClr val="dk1"/>
              </a:solidFill>
              <a:latin typeface="Calibri"/>
              <a:ea typeface="Calibri"/>
              <a:cs typeface="Calibri"/>
              <a:sym typeface="Calibri"/>
            </a:endParaRPr>
          </a:p>
        </p:txBody>
      </p:sp>
      <p:cxnSp>
        <p:nvCxnSpPr>
          <p:cNvPr id="44" name="Google Shape;44;p2"/>
          <p:cNvCxnSpPr/>
          <p:nvPr/>
        </p:nvCxnSpPr>
        <p:spPr>
          <a:xfrm>
            <a:off x="3438144"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45" name="Google Shape;45;p2"/>
          <p:cNvSpPr/>
          <p:nvPr/>
        </p:nvSpPr>
        <p:spPr>
          <a:xfrm>
            <a:off x="3547872" y="1097280"/>
            <a:ext cx="1005840" cy="105156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547872"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FSM</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Controller</a:t>
            </a:r>
            <a:endParaRPr b="0" i="0" sz="1100" u="none" cap="none" strike="noStrike">
              <a:solidFill>
                <a:schemeClr val="dk1"/>
              </a:solidFill>
              <a:latin typeface="Calibri"/>
              <a:ea typeface="Calibri"/>
              <a:cs typeface="Calibri"/>
              <a:sym typeface="Calibri"/>
            </a:endParaRPr>
          </a:p>
        </p:txBody>
      </p:sp>
      <p:sp>
        <p:nvSpPr>
          <p:cNvPr id="47" name="Google Shape;47;p2"/>
          <p:cNvSpPr/>
          <p:nvPr/>
        </p:nvSpPr>
        <p:spPr>
          <a:xfrm>
            <a:off x="3547872"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FIFO→RAM</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byte packing</a:t>
            </a:r>
            <a:endParaRPr b="0" i="0" sz="900" u="none" cap="none" strike="noStrike">
              <a:solidFill>
                <a:schemeClr val="dk1"/>
              </a:solidFill>
              <a:latin typeface="Calibri"/>
              <a:ea typeface="Calibri"/>
              <a:cs typeface="Calibri"/>
              <a:sym typeface="Calibri"/>
            </a:endParaRPr>
          </a:p>
        </p:txBody>
      </p:sp>
      <p:cxnSp>
        <p:nvCxnSpPr>
          <p:cNvPr id="48" name="Google Shape;48;p2"/>
          <p:cNvCxnSpPr/>
          <p:nvPr/>
        </p:nvCxnSpPr>
        <p:spPr>
          <a:xfrm>
            <a:off x="4553712"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49" name="Google Shape;49;p2"/>
          <p:cNvSpPr/>
          <p:nvPr/>
        </p:nvSpPr>
        <p:spPr>
          <a:xfrm>
            <a:off x="4663440" y="1097280"/>
            <a:ext cx="1005840" cy="105156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663440"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Block</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RAM</a:t>
            </a:r>
            <a:endParaRPr b="0" i="0" sz="1100" u="none" cap="none" strike="noStrike">
              <a:solidFill>
                <a:schemeClr val="dk1"/>
              </a:solidFill>
              <a:latin typeface="Calibri"/>
              <a:ea typeface="Calibri"/>
              <a:cs typeface="Calibri"/>
              <a:sym typeface="Calibri"/>
            </a:endParaRPr>
          </a:p>
        </p:txBody>
      </p:sp>
      <p:sp>
        <p:nvSpPr>
          <p:cNvPr id="51" name="Google Shape;51;p2"/>
          <p:cNvSpPr/>
          <p:nvPr/>
        </p:nvSpPr>
        <p:spPr>
          <a:xfrm>
            <a:off x="4663440"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32×32-bit</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sync read</a:t>
            </a:r>
            <a:endParaRPr b="0" i="0" sz="900" u="none" cap="none" strike="noStrike">
              <a:solidFill>
                <a:schemeClr val="dk1"/>
              </a:solidFill>
              <a:latin typeface="Calibri"/>
              <a:ea typeface="Calibri"/>
              <a:cs typeface="Calibri"/>
              <a:sym typeface="Calibri"/>
            </a:endParaRPr>
          </a:p>
        </p:txBody>
      </p:sp>
      <p:cxnSp>
        <p:nvCxnSpPr>
          <p:cNvPr id="52" name="Google Shape;52;p2"/>
          <p:cNvCxnSpPr/>
          <p:nvPr/>
        </p:nvCxnSpPr>
        <p:spPr>
          <a:xfrm>
            <a:off x="5669280"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53" name="Google Shape;53;p2"/>
          <p:cNvSpPr/>
          <p:nvPr/>
        </p:nvSpPr>
        <p:spPr>
          <a:xfrm>
            <a:off x="5779008" y="1097280"/>
            <a:ext cx="1005840" cy="105156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779008"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Classifier</a:t>
            </a:r>
            <a:endParaRPr b="0" i="0" sz="1100" u="none" cap="none" strike="noStrike">
              <a:solidFill>
                <a:schemeClr val="dk1"/>
              </a:solidFill>
              <a:latin typeface="Calibri"/>
              <a:ea typeface="Calibri"/>
              <a:cs typeface="Calibri"/>
              <a:sym typeface="Calibri"/>
            </a:endParaRPr>
          </a:p>
        </p:txBody>
      </p:sp>
      <p:sp>
        <p:nvSpPr>
          <p:cNvPr id="55" name="Google Shape;55;p2"/>
          <p:cNvSpPr/>
          <p:nvPr/>
        </p:nvSpPr>
        <p:spPr>
          <a:xfrm>
            <a:off x="5779008"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6-state FSM</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byte class</a:t>
            </a:r>
            <a:endParaRPr b="0" i="0" sz="900" u="none" cap="none" strike="noStrike">
              <a:solidFill>
                <a:schemeClr val="dk1"/>
              </a:solidFill>
              <a:latin typeface="Calibri"/>
              <a:ea typeface="Calibri"/>
              <a:cs typeface="Calibri"/>
              <a:sym typeface="Calibri"/>
            </a:endParaRPr>
          </a:p>
        </p:txBody>
      </p:sp>
      <p:cxnSp>
        <p:nvCxnSpPr>
          <p:cNvPr id="56" name="Google Shape;56;p2"/>
          <p:cNvCxnSpPr/>
          <p:nvPr/>
        </p:nvCxnSpPr>
        <p:spPr>
          <a:xfrm>
            <a:off x="6784848"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57" name="Google Shape;57;p2"/>
          <p:cNvSpPr/>
          <p:nvPr/>
        </p:nvSpPr>
        <p:spPr>
          <a:xfrm>
            <a:off x="6894576" y="1097280"/>
            <a:ext cx="1005840" cy="105156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894576"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TX</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FIFO</a:t>
            </a:r>
            <a:endParaRPr b="0" i="0" sz="1100" u="none" cap="none" strike="noStrike">
              <a:solidFill>
                <a:schemeClr val="dk1"/>
              </a:solidFill>
              <a:latin typeface="Calibri"/>
              <a:ea typeface="Calibri"/>
              <a:cs typeface="Calibri"/>
              <a:sym typeface="Calibri"/>
            </a:endParaRPr>
          </a:p>
        </p:txBody>
      </p:sp>
      <p:sp>
        <p:nvSpPr>
          <p:cNvPr id="59" name="Google Shape;59;p2"/>
          <p:cNvSpPr/>
          <p:nvPr/>
        </p:nvSpPr>
        <p:spPr>
          <a:xfrm>
            <a:off x="6894576"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255 slots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buffers results</a:t>
            </a:r>
            <a:endParaRPr b="0" i="0" sz="900" u="none" cap="none" strike="noStrike">
              <a:solidFill>
                <a:schemeClr val="dk1"/>
              </a:solidFill>
              <a:latin typeface="Calibri"/>
              <a:ea typeface="Calibri"/>
              <a:cs typeface="Calibri"/>
              <a:sym typeface="Calibri"/>
            </a:endParaRPr>
          </a:p>
        </p:txBody>
      </p:sp>
      <p:cxnSp>
        <p:nvCxnSpPr>
          <p:cNvPr id="60" name="Google Shape;60;p2"/>
          <p:cNvCxnSpPr/>
          <p:nvPr/>
        </p:nvCxnSpPr>
        <p:spPr>
          <a:xfrm>
            <a:off x="7900416" y="1604772"/>
            <a:ext cx="109728" cy="0"/>
          </a:xfrm>
          <a:prstGeom prst="straightConnector1">
            <a:avLst/>
          </a:prstGeom>
          <a:noFill/>
          <a:ln cap="flat" cmpd="sng" w="25400">
            <a:solidFill>
              <a:srgbClr val="F0A500"/>
            </a:solidFill>
            <a:prstDash val="solid"/>
            <a:round/>
            <a:headEnd len="sm" w="sm" type="none"/>
            <a:tailEnd len="sm" w="sm" type="none"/>
          </a:ln>
        </p:spPr>
      </p:cxnSp>
      <p:sp>
        <p:nvSpPr>
          <p:cNvPr id="61" name="Google Shape;61;p2"/>
          <p:cNvSpPr/>
          <p:nvPr/>
        </p:nvSpPr>
        <p:spPr>
          <a:xfrm>
            <a:off x="8010144" y="1097280"/>
            <a:ext cx="1005840" cy="105156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8010144" y="1170432"/>
            <a:ext cx="10058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UART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Transmitter</a:t>
            </a:r>
            <a:endParaRPr b="0" i="0" sz="1100" u="none" cap="none" strike="noStrike">
              <a:solidFill>
                <a:schemeClr val="dk1"/>
              </a:solidFill>
              <a:latin typeface="Calibri"/>
              <a:ea typeface="Calibri"/>
              <a:cs typeface="Calibri"/>
              <a:sym typeface="Calibri"/>
            </a:endParaRPr>
          </a:p>
        </p:txBody>
      </p:sp>
      <p:sp>
        <p:nvSpPr>
          <p:cNvPr id="63" name="Google Shape;63;p2"/>
          <p:cNvSpPr/>
          <p:nvPr/>
        </p:nvSpPr>
        <p:spPr>
          <a:xfrm>
            <a:off x="8010144" y="1645920"/>
            <a:ext cx="100584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4-state FSM</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900"/>
              <a:buFont typeface="Calibri"/>
              <a:buNone/>
            </a:pPr>
            <a:r>
              <a:rPr b="0" i="0" lang="en-US" sz="900" u="none" cap="none" strike="noStrike">
                <a:solidFill>
                  <a:srgbClr val="C8D8F0"/>
                </a:solidFill>
                <a:latin typeface="Calibri"/>
                <a:ea typeface="Calibri"/>
                <a:cs typeface="Calibri"/>
                <a:sym typeface="Calibri"/>
              </a:rPr>
              <a:t>LSB-first</a:t>
            </a:r>
            <a:endParaRPr b="0" i="0" sz="900" u="none" cap="none" strike="noStrike">
              <a:solidFill>
                <a:schemeClr val="dk1"/>
              </a:solidFill>
              <a:latin typeface="Calibri"/>
              <a:ea typeface="Calibri"/>
              <a:cs typeface="Calibri"/>
              <a:sym typeface="Calibri"/>
            </a:endParaRPr>
          </a:p>
        </p:txBody>
      </p:sp>
      <p:sp>
        <p:nvSpPr>
          <p:cNvPr id="64" name="Google Shape;64;p2"/>
          <p:cNvSpPr/>
          <p:nvPr/>
        </p:nvSpPr>
        <p:spPr>
          <a:xfrm>
            <a:off x="914400" y="2468880"/>
            <a:ext cx="1371600" cy="640080"/>
          </a:xfrm>
          <a:prstGeom prst="rect">
            <a:avLst/>
          </a:prstGeom>
          <a:solidFill>
            <a:srgbClr val="4A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914400" y="2468880"/>
            <a:ext cx="13716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Baud Rate Gen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651 div · 16× OVS</a:t>
            </a:r>
            <a:endParaRPr b="0" i="0" sz="1000" u="none" cap="none" strike="noStrike">
              <a:solidFill>
                <a:schemeClr val="dk1"/>
              </a:solidFill>
              <a:latin typeface="Calibri"/>
              <a:ea typeface="Calibri"/>
              <a:cs typeface="Calibri"/>
              <a:sym typeface="Calibri"/>
            </a:endParaRPr>
          </a:p>
        </p:txBody>
      </p:sp>
      <p:cxnSp>
        <p:nvCxnSpPr>
          <p:cNvPr id="66" name="Google Shape;66;p2"/>
          <p:cNvCxnSpPr/>
          <p:nvPr/>
        </p:nvCxnSpPr>
        <p:spPr>
          <a:xfrm>
            <a:off x="1600200" y="2148840"/>
            <a:ext cx="0" cy="320040"/>
          </a:xfrm>
          <a:prstGeom prst="straightConnector1">
            <a:avLst/>
          </a:prstGeom>
          <a:noFill/>
          <a:ln cap="flat" cmpd="sng" w="19050">
            <a:solidFill>
              <a:srgbClr val="F0A500"/>
            </a:solidFill>
            <a:prstDash val="dash"/>
            <a:round/>
            <a:headEnd len="sm" w="sm" type="none"/>
            <a:tailEnd len="sm" w="sm" type="none"/>
          </a:ln>
        </p:spPr>
      </p:cxnSp>
      <p:sp>
        <p:nvSpPr>
          <p:cNvPr id="67" name="Google Shape;67;p2"/>
          <p:cNvSpPr/>
          <p:nvPr/>
        </p:nvSpPr>
        <p:spPr>
          <a:xfrm>
            <a:off x="2560320" y="3200400"/>
            <a:ext cx="3840480" cy="502920"/>
          </a:xfrm>
          <a:prstGeom prst="rect">
            <a:avLst/>
          </a:prstGeom>
          <a:solidFill>
            <a:srgbClr val="E8EFF8"/>
          </a:solidFill>
          <a:ln cap="flat" cmpd="sng" w="12700">
            <a:solidFill>
              <a:srgbClr val="2E5FA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2560320" y="3200400"/>
            <a:ext cx="38404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900"/>
              <a:buFont typeface="Calibri"/>
              <a:buNone/>
            </a:pPr>
            <a:r>
              <a:rPr b="0" i="0" lang="en-US" sz="900" u="none" cap="none" strike="noStrike">
                <a:solidFill>
                  <a:srgbClr val="1C3A5E"/>
                </a:solidFill>
                <a:latin typeface="Calibri"/>
                <a:ea typeface="Calibri"/>
                <a:cs typeface="Calibri"/>
                <a:sym typeface="Calibri"/>
              </a:rPr>
              <a:t>phase = 0 (receive): FSM owns RAM address   |   phase = 1 (classify): engine owns RAM address</a:t>
            </a:r>
            <a:endParaRPr b="0" i="0" sz="900" u="none" cap="none" strike="noStrike">
              <a:solidFill>
                <a:schemeClr val="dk1"/>
              </a:solidFill>
              <a:latin typeface="Calibri"/>
              <a:ea typeface="Calibri"/>
              <a:cs typeface="Calibri"/>
              <a:sym typeface="Calibri"/>
            </a:endParaRPr>
          </a:p>
        </p:txBody>
      </p:sp>
      <p:sp>
        <p:nvSpPr>
          <p:cNvPr id="69" name="Google Shape;69;p2"/>
          <p:cNvSpPr/>
          <p:nvPr/>
        </p:nvSpPr>
        <p:spPr>
          <a:xfrm>
            <a:off x="274320" y="4526280"/>
            <a:ext cx="85953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100 MHz clk  ·  9600 baud  ·  8N1  ·  LSB-first  ·  Active-HIGH reset</a:t>
            </a:r>
            <a:endParaRPr b="0" i="0" sz="1000" u="none" cap="none" strike="noStrike">
              <a:solidFill>
                <a:schemeClr val="dk1"/>
              </a:solidFill>
              <a:latin typeface="Calibri"/>
              <a:ea typeface="Calibri"/>
              <a:cs typeface="Calibri"/>
              <a:sym typeface="Calibri"/>
            </a:endParaRPr>
          </a:p>
        </p:txBody>
      </p:sp>
      <p:sp>
        <p:nvSpPr>
          <p:cNvPr id="70" name="Google Shape;70;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75" name="Shape 75"/>
        <p:cNvGrpSpPr/>
        <p:nvPr/>
      </p:nvGrpSpPr>
      <p:grpSpPr>
        <a:xfrm>
          <a:off x="0" y="0"/>
          <a:ext cx="0" cy="0"/>
          <a:chOff x="0" y="0"/>
          <a:chExt cx="0" cy="0"/>
        </a:xfrm>
      </p:grpSpPr>
      <p:sp>
        <p:nvSpPr>
          <p:cNvPr id="76" name="Google Shape;76;p3"/>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Baud Rate Generator</a:t>
            </a:r>
            <a:endParaRPr b="0" i="0" sz="2400" u="none" cap="none" strike="noStrike">
              <a:solidFill>
                <a:schemeClr val="dk1"/>
              </a:solidFill>
              <a:latin typeface="Calibri"/>
              <a:ea typeface="Calibri"/>
              <a:cs typeface="Calibri"/>
              <a:sym typeface="Calibri"/>
            </a:endParaRPr>
          </a:p>
        </p:txBody>
      </p:sp>
      <p:sp>
        <p:nvSpPr>
          <p:cNvPr id="79" name="Google Shape;79;p3"/>
          <p:cNvSpPr/>
          <p:nvPr/>
        </p:nvSpPr>
        <p:spPr>
          <a:xfrm>
            <a:off x="6858000" y="796087"/>
            <a:ext cx="20118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5FA3"/>
              </a:buClr>
              <a:buSzPts val="1200"/>
              <a:buFont typeface="Consolas"/>
              <a:buNone/>
            </a:pPr>
            <a:r>
              <a:rPr b="0" i="0" lang="en-US" sz="1200" u="none" cap="none" strike="noStrike">
                <a:solidFill>
                  <a:srgbClr val="2E5FA3"/>
                </a:solidFill>
                <a:latin typeface="Consolas"/>
                <a:ea typeface="Consolas"/>
                <a:cs typeface="Consolas"/>
                <a:sym typeface="Consolas"/>
              </a:rPr>
              <a:t>baud_gen.vhd</a:t>
            </a:r>
            <a:endParaRPr b="0" i="0" sz="1200" u="none" cap="none" strike="noStrike">
              <a:solidFill>
                <a:schemeClr val="dk1"/>
              </a:solidFill>
              <a:latin typeface="Calibri"/>
              <a:ea typeface="Calibri"/>
              <a:cs typeface="Calibri"/>
              <a:sym typeface="Calibri"/>
            </a:endParaRPr>
          </a:p>
        </p:txBody>
      </p:sp>
      <p:sp>
        <p:nvSpPr>
          <p:cNvPr id="80" name="Google Shape;80;p3"/>
          <p:cNvSpPr/>
          <p:nvPr/>
        </p:nvSpPr>
        <p:spPr>
          <a:xfrm>
            <a:off x="365760" y="1005840"/>
            <a:ext cx="3200400" cy="33832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365760" y="1005840"/>
            <a:ext cx="3200400" cy="329184"/>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457200" y="1033272"/>
            <a:ext cx="3017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Module Diagram</a:t>
            </a:r>
            <a:endParaRPr b="0" i="0" sz="1100" u="none" cap="none" strike="noStrike">
              <a:solidFill>
                <a:schemeClr val="dk1"/>
              </a:solidFill>
              <a:latin typeface="Calibri"/>
              <a:ea typeface="Calibri"/>
              <a:cs typeface="Calibri"/>
              <a:sym typeface="Calibri"/>
            </a:endParaRPr>
          </a:p>
        </p:txBody>
      </p:sp>
      <p:sp>
        <p:nvSpPr>
          <p:cNvPr id="83" name="Google Shape;83;p3"/>
          <p:cNvSpPr/>
          <p:nvPr/>
        </p:nvSpPr>
        <p:spPr>
          <a:xfrm>
            <a:off x="1005840" y="1645920"/>
            <a:ext cx="1920240" cy="91440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005840" y="1645920"/>
            <a:ext cx="192024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Counter</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0 → M−1</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(M = 651)</a:t>
            </a:r>
            <a:endParaRPr b="0" i="0" sz="1200" u="none" cap="none" strike="noStrike">
              <a:solidFill>
                <a:schemeClr val="dk1"/>
              </a:solidFill>
              <a:latin typeface="Calibri"/>
              <a:ea typeface="Calibri"/>
              <a:cs typeface="Calibri"/>
              <a:sym typeface="Calibri"/>
            </a:endParaRPr>
          </a:p>
        </p:txBody>
      </p:sp>
      <p:cxnSp>
        <p:nvCxnSpPr>
          <p:cNvPr id="85" name="Google Shape;85;p3"/>
          <p:cNvCxnSpPr/>
          <p:nvPr/>
        </p:nvCxnSpPr>
        <p:spPr>
          <a:xfrm>
            <a:off x="365760" y="2103120"/>
            <a:ext cx="640080" cy="0"/>
          </a:xfrm>
          <a:prstGeom prst="straightConnector1">
            <a:avLst/>
          </a:prstGeom>
          <a:noFill/>
          <a:ln cap="flat" cmpd="sng" w="25400">
            <a:solidFill>
              <a:srgbClr val="1C3A5E"/>
            </a:solidFill>
            <a:prstDash val="solid"/>
            <a:round/>
            <a:headEnd len="sm" w="sm" type="none"/>
            <a:tailEnd len="sm" w="sm" type="none"/>
          </a:ln>
        </p:spPr>
      </p:cxnSp>
      <p:sp>
        <p:nvSpPr>
          <p:cNvPr id="86" name="Google Shape;86;p3"/>
          <p:cNvSpPr/>
          <p:nvPr/>
        </p:nvSpPr>
        <p:spPr>
          <a:xfrm>
            <a:off x="320040" y="2078339"/>
            <a:ext cx="640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000"/>
              <a:buFont typeface="Consolas"/>
              <a:buNone/>
            </a:pPr>
            <a:r>
              <a:rPr b="0" i="0" lang="en-US" sz="1000" u="none" cap="none" strike="noStrike">
                <a:solidFill>
                  <a:srgbClr val="1C3A5E"/>
                </a:solidFill>
                <a:latin typeface="Consolas"/>
                <a:ea typeface="Consolas"/>
                <a:cs typeface="Consolas"/>
                <a:sym typeface="Consolas"/>
              </a:rPr>
              <a:t>clk</a:t>
            </a:r>
            <a:endParaRPr b="0" i="0" sz="1000" u="none" cap="none" strike="noStrike">
              <a:solidFill>
                <a:schemeClr val="dk1"/>
              </a:solidFill>
              <a:latin typeface="Calibri"/>
              <a:ea typeface="Calibri"/>
              <a:cs typeface="Calibri"/>
              <a:sym typeface="Calibri"/>
            </a:endParaRPr>
          </a:p>
        </p:txBody>
      </p:sp>
      <p:cxnSp>
        <p:nvCxnSpPr>
          <p:cNvPr id="87" name="Google Shape;87;p3"/>
          <p:cNvCxnSpPr/>
          <p:nvPr/>
        </p:nvCxnSpPr>
        <p:spPr>
          <a:xfrm>
            <a:off x="2926080" y="2103120"/>
            <a:ext cx="640080" cy="0"/>
          </a:xfrm>
          <a:prstGeom prst="straightConnector1">
            <a:avLst/>
          </a:prstGeom>
          <a:noFill/>
          <a:ln cap="flat" cmpd="sng" w="25400">
            <a:solidFill>
              <a:srgbClr val="F0A500"/>
            </a:solidFill>
            <a:prstDash val="solid"/>
            <a:round/>
            <a:headEnd len="sm" w="sm" type="none"/>
            <a:tailEnd len="sm" w="sm" type="none"/>
          </a:ln>
        </p:spPr>
      </p:cxnSp>
      <p:sp>
        <p:nvSpPr>
          <p:cNvPr id="88" name="Google Shape;88;p3"/>
          <p:cNvSpPr/>
          <p:nvPr/>
        </p:nvSpPr>
        <p:spPr>
          <a:xfrm>
            <a:off x="2926080" y="2078339"/>
            <a:ext cx="640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A500"/>
              </a:buClr>
              <a:buSzPts val="1000"/>
              <a:buFont typeface="Consolas"/>
              <a:buNone/>
            </a:pPr>
            <a:r>
              <a:rPr b="0" i="0" lang="en-US" sz="1000" u="none" cap="none" strike="noStrike">
                <a:solidFill>
                  <a:srgbClr val="F0A500"/>
                </a:solidFill>
                <a:latin typeface="Consolas"/>
                <a:ea typeface="Consolas"/>
                <a:cs typeface="Consolas"/>
                <a:sym typeface="Consolas"/>
              </a:rPr>
              <a:t>tick</a:t>
            </a:r>
            <a:endParaRPr b="0" i="0" sz="1000" u="none" cap="none" strike="noStrike">
              <a:solidFill>
                <a:schemeClr val="dk1"/>
              </a:solidFill>
              <a:latin typeface="Calibri"/>
              <a:ea typeface="Calibri"/>
              <a:cs typeface="Calibri"/>
              <a:sym typeface="Calibri"/>
            </a:endParaRPr>
          </a:p>
        </p:txBody>
      </p:sp>
      <p:sp>
        <p:nvSpPr>
          <p:cNvPr id="89" name="Google Shape;89;p3"/>
          <p:cNvSpPr/>
          <p:nvPr/>
        </p:nvSpPr>
        <p:spPr>
          <a:xfrm>
            <a:off x="1280160" y="2834640"/>
            <a:ext cx="1371600" cy="594360"/>
          </a:xfrm>
          <a:prstGeom prst="ellipse">
            <a:avLst/>
          </a:prstGeom>
          <a:solidFill>
            <a:srgbClr val="C8D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280160" y="2834640"/>
            <a:ext cx="1371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1000"/>
              <a:buFont typeface="Calibri"/>
              <a:buNone/>
            </a:pPr>
            <a:r>
              <a:rPr b="0" i="0" lang="en-US" sz="1000" u="none" cap="none" strike="noStrike">
                <a:solidFill>
                  <a:srgbClr val="1C3A5E"/>
                </a:solidFill>
                <a:latin typeface="Calibri"/>
                <a:ea typeface="Calibri"/>
                <a:cs typeface="Calibri"/>
                <a:sym typeface="Calibri"/>
              </a:rPr>
              <a:t>count = M−1?</a:t>
            </a:r>
            <a:endParaRPr b="0" i="0" sz="1000" u="none" cap="none" strike="noStrike">
              <a:solidFill>
                <a:schemeClr val="dk1"/>
              </a:solidFill>
              <a:latin typeface="Calibri"/>
              <a:ea typeface="Calibri"/>
              <a:cs typeface="Calibri"/>
              <a:sym typeface="Calibri"/>
            </a:endParaRPr>
          </a:p>
        </p:txBody>
      </p:sp>
      <p:cxnSp>
        <p:nvCxnSpPr>
          <p:cNvPr id="91" name="Google Shape;91;p3"/>
          <p:cNvCxnSpPr/>
          <p:nvPr/>
        </p:nvCxnSpPr>
        <p:spPr>
          <a:xfrm>
            <a:off x="1965960" y="2560320"/>
            <a:ext cx="0" cy="274320"/>
          </a:xfrm>
          <a:prstGeom prst="straightConnector1">
            <a:avLst/>
          </a:prstGeom>
          <a:noFill/>
          <a:ln cap="flat" cmpd="sng" w="19050">
            <a:solidFill>
              <a:srgbClr val="64748B"/>
            </a:solidFill>
            <a:prstDash val="solid"/>
            <a:round/>
            <a:headEnd len="sm" w="sm" type="none"/>
            <a:tailEnd len="sm" w="sm" type="none"/>
          </a:ln>
        </p:spPr>
      </p:cxnSp>
      <p:sp>
        <p:nvSpPr>
          <p:cNvPr id="92" name="Google Shape;92;p3"/>
          <p:cNvSpPr/>
          <p:nvPr/>
        </p:nvSpPr>
        <p:spPr>
          <a:xfrm>
            <a:off x="457200" y="3493008"/>
            <a:ext cx="29260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2035"/>
              </a:buClr>
              <a:buSzPts val="1000"/>
              <a:buFont typeface="Calibri"/>
              <a:buNone/>
            </a:pPr>
            <a:r>
              <a:rPr b="0" i="0" lang="en-US" sz="1000" u="none" cap="none" strike="noStrike">
                <a:solidFill>
                  <a:srgbClr val="0F2035"/>
                </a:solidFill>
                <a:latin typeface="Calibri"/>
                <a:ea typeface="Calibri"/>
                <a:cs typeface="Calibri"/>
                <a:sym typeface="Calibri"/>
              </a:rPr>
              <a:t>YES → tick='1', count→0</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2035"/>
              </a:buClr>
              <a:buSzPts val="1000"/>
              <a:buFont typeface="Calibri"/>
              <a:buNone/>
            </a:pPr>
            <a:r>
              <a:rPr b="0" i="0" lang="en-US" sz="1000" u="none" cap="none" strike="noStrike">
                <a:solidFill>
                  <a:srgbClr val="0F2035"/>
                </a:solidFill>
                <a:latin typeface="Calibri"/>
                <a:ea typeface="Calibri"/>
                <a:cs typeface="Calibri"/>
                <a:sym typeface="Calibri"/>
              </a:rPr>
              <a:t>NO  → count+1</a:t>
            </a:r>
            <a:endParaRPr b="0" i="0" sz="1000" u="none" cap="none" strike="noStrike">
              <a:solidFill>
                <a:schemeClr val="dk1"/>
              </a:solidFill>
              <a:latin typeface="Calibri"/>
              <a:ea typeface="Calibri"/>
              <a:cs typeface="Calibri"/>
              <a:sym typeface="Calibri"/>
            </a:endParaRPr>
          </a:p>
        </p:txBody>
      </p:sp>
      <p:sp>
        <p:nvSpPr>
          <p:cNvPr id="93" name="Google Shape;93;p3"/>
          <p:cNvSpPr/>
          <p:nvPr/>
        </p:nvSpPr>
        <p:spPr>
          <a:xfrm>
            <a:off x="4023360" y="1051560"/>
            <a:ext cx="2011680" cy="38404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6053328" y="1051560"/>
            <a:ext cx="2743200" cy="384048"/>
          </a:xfrm>
          <a:prstGeom prst="rect">
            <a:avLst/>
          </a:prstGeom>
          <a:solidFill>
            <a:srgbClr val="E8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4114800" y="1078992"/>
            <a:ext cx="1828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Clock</a:t>
            </a:r>
            <a:endParaRPr b="0" i="0" sz="1200" u="none" cap="none" strike="noStrike">
              <a:solidFill>
                <a:schemeClr val="dk1"/>
              </a:solidFill>
              <a:latin typeface="Calibri"/>
              <a:ea typeface="Calibri"/>
              <a:cs typeface="Calibri"/>
              <a:sym typeface="Calibri"/>
            </a:endParaRPr>
          </a:p>
        </p:txBody>
      </p:sp>
      <p:sp>
        <p:nvSpPr>
          <p:cNvPr id="96" name="Google Shape;96;p3"/>
          <p:cNvSpPr/>
          <p:nvPr/>
        </p:nvSpPr>
        <p:spPr>
          <a:xfrm>
            <a:off x="6144768" y="1078992"/>
            <a:ext cx="25603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100 MHz</a:t>
            </a:r>
            <a:endParaRPr b="0" i="0" sz="1200" u="none" cap="none" strike="noStrike">
              <a:solidFill>
                <a:schemeClr val="dk1"/>
              </a:solidFill>
              <a:latin typeface="Calibri"/>
              <a:ea typeface="Calibri"/>
              <a:cs typeface="Calibri"/>
              <a:sym typeface="Calibri"/>
            </a:endParaRPr>
          </a:p>
        </p:txBody>
      </p:sp>
      <p:sp>
        <p:nvSpPr>
          <p:cNvPr id="97" name="Google Shape;97;p3"/>
          <p:cNvSpPr/>
          <p:nvPr/>
        </p:nvSpPr>
        <p:spPr>
          <a:xfrm>
            <a:off x="4023360" y="1527048"/>
            <a:ext cx="2011680" cy="38404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6053328" y="1527048"/>
            <a:ext cx="2743200" cy="38404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114800" y="1554480"/>
            <a:ext cx="1828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Baud rate</a:t>
            </a:r>
            <a:endParaRPr b="0" i="0" sz="1200" u="none" cap="none" strike="noStrike">
              <a:solidFill>
                <a:schemeClr val="dk1"/>
              </a:solidFill>
              <a:latin typeface="Calibri"/>
              <a:ea typeface="Calibri"/>
              <a:cs typeface="Calibri"/>
              <a:sym typeface="Calibri"/>
            </a:endParaRPr>
          </a:p>
        </p:txBody>
      </p:sp>
      <p:sp>
        <p:nvSpPr>
          <p:cNvPr id="100" name="Google Shape;100;p3"/>
          <p:cNvSpPr/>
          <p:nvPr/>
        </p:nvSpPr>
        <p:spPr>
          <a:xfrm>
            <a:off x="6144768" y="1554480"/>
            <a:ext cx="25603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9600 bps</a:t>
            </a:r>
            <a:endParaRPr b="0" i="0" sz="1200" u="none" cap="none" strike="noStrike">
              <a:solidFill>
                <a:schemeClr val="dk1"/>
              </a:solidFill>
              <a:latin typeface="Calibri"/>
              <a:ea typeface="Calibri"/>
              <a:cs typeface="Calibri"/>
              <a:sym typeface="Calibri"/>
            </a:endParaRPr>
          </a:p>
        </p:txBody>
      </p:sp>
      <p:sp>
        <p:nvSpPr>
          <p:cNvPr id="101" name="Google Shape;101;p3"/>
          <p:cNvSpPr/>
          <p:nvPr/>
        </p:nvSpPr>
        <p:spPr>
          <a:xfrm>
            <a:off x="4023360" y="2002536"/>
            <a:ext cx="2011680" cy="38404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6053328" y="2002536"/>
            <a:ext cx="2743200" cy="384048"/>
          </a:xfrm>
          <a:prstGeom prst="rect">
            <a:avLst/>
          </a:prstGeom>
          <a:solidFill>
            <a:srgbClr val="E8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4114800" y="2029968"/>
            <a:ext cx="1828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Oversample</a:t>
            </a:r>
            <a:endParaRPr b="0" i="0" sz="1200" u="none" cap="none" strike="noStrike">
              <a:solidFill>
                <a:schemeClr val="dk1"/>
              </a:solidFill>
              <a:latin typeface="Calibri"/>
              <a:ea typeface="Calibri"/>
              <a:cs typeface="Calibri"/>
              <a:sym typeface="Calibri"/>
            </a:endParaRPr>
          </a:p>
        </p:txBody>
      </p:sp>
      <p:sp>
        <p:nvSpPr>
          <p:cNvPr id="104" name="Google Shape;104;p3"/>
          <p:cNvSpPr/>
          <p:nvPr/>
        </p:nvSpPr>
        <p:spPr>
          <a:xfrm>
            <a:off x="6144768" y="2029968"/>
            <a:ext cx="25603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16×</a:t>
            </a:r>
            <a:endParaRPr b="0" i="0" sz="1200" u="none" cap="none" strike="noStrike">
              <a:solidFill>
                <a:schemeClr val="dk1"/>
              </a:solidFill>
              <a:latin typeface="Calibri"/>
              <a:ea typeface="Calibri"/>
              <a:cs typeface="Calibri"/>
              <a:sym typeface="Calibri"/>
            </a:endParaRPr>
          </a:p>
        </p:txBody>
      </p:sp>
      <p:sp>
        <p:nvSpPr>
          <p:cNvPr id="105" name="Google Shape;105;p3"/>
          <p:cNvSpPr/>
          <p:nvPr/>
        </p:nvSpPr>
        <p:spPr>
          <a:xfrm>
            <a:off x="4023360" y="2478024"/>
            <a:ext cx="2011680" cy="38404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6053328" y="2478024"/>
            <a:ext cx="2743200" cy="38404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4114800" y="2505456"/>
            <a:ext cx="1828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Divisor M</a:t>
            </a:r>
            <a:endParaRPr b="0" i="0" sz="1200" u="none" cap="none" strike="noStrike">
              <a:solidFill>
                <a:schemeClr val="dk1"/>
              </a:solidFill>
              <a:latin typeface="Calibri"/>
              <a:ea typeface="Calibri"/>
              <a:cs typeface="Calibri"/>
              <a:sym typeface="Calibri"/>
            </a:endParaRPr>
          </a:p>
        </p:txBody>
      </p:sp>
      <p:sp>
        <p:nvSpPr>
          <p:cNvPr id="108" name="Google Shape;108;p3"/>
          <p:cNvSpPr/>
          <p:nvPr/>
        </p:nvSpPr>
        <p:spPr>
          <a:xfrm>
            <a:off x="6144768" y="2505456"/>
            <a:ext cx="25603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651 cycles</a:t>
            </a:r>
            <a:endParaRPr b="0" i="0" sz="1200" u="none" cap="none" strike="noStrike">
              <a:solidFill>
                <a:schemeClr val="dk1"/>
              </a:solidFill>
              <a:latin typeface="Calibri"/>
              <a:ea typeface="Calibri"/>
              <a:cs typeface="Calibri"/>
              <a:sym typeface="Calibri"/>
            </a:endParaRPr>
          </a:p>
        </p:txBody>
      </p:sp>
      <p:sp>
        <p:nvSpPr>
          <p:cNvPr id="109" name="Google Shape;109;p3"/>
          <p:cNvSpPr/>
          <p:nvPr/>
        </p:nvSpPr>
        <p:spPr>
          <a:xfrm>
            <a:off x="4023360" y="2953512"/>
            <a:ext cx="2011680" cy="38404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6053328" y="2953512"/>
            <a:ext cx="2743200" cy="384048"/>
          </a:xfrm>
          <a:prstGeom prst="rect">
            <a:avLst/>
          </a:prstGeom>
          <a:solidFill>
            <a:srgbClr val="E8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4114800" y="2980944"/>
            <a:ext cx="1828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Tick period</a:t>
            </a:r>
            <a:endParaRPr b="0" i="0" sz="1200" u="none" cap="none" strike="noStrike">
              <a:solidFill>
                <a:schemeClr val="dk1"/>
              </a:solidFill>
              <a:latin typeface="Calibri"/>
              <a:ea typeface="Calibri"/>
              <a:cs typeface="Calibri"/>
              <a:sym typeface="Calibri"/>
            </a:endParaRPr>
          </a:p>
        </p:txBody>
      </p:sp>
      <p:sp>
        <p:nvSpPr>
          <p:cNvPr id="112" name="Google Shape;112;p3"/>
          <p:cNvSpPr/>
          <p:nvPr/>
        </p:nvSpPr>
        <p:spPr>
          <a:xfrm>
            <a:off x="6144768" y="2980944"/>
            <a:ext cx="25603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~6.51 µs</a:t>
            </a:r>
            <a:endParaRPr b="0" i="0" sz="1200" u="none" cap="none" strike="noStrike">
              <a:solidFill>
                <a:schemeClr val="dk1"/>
              </a:solidFill>
              <a:latin typeface="Calibri"/>
              <a:ea typeface="Calibri"/>
              <a:cs typeface="Calibri"/>
              <a:sym typeface="Calibri"/>
            </a:endParaRPr>
          </a:p>
        </p:txBody>
      </p:sp>
      <p:sp>
        <p:nvSpPr>
          <p:cNvPr id="113" name="Google Shape;113;p3"/>
          <p:cNvSpPr/>
          <p:nvPr/>
        </p:nvSpPr>
        <p:spPr>
          <a:xfrm>
            <a:off x="4023360" y="3429000"/>
            <a:ext cx="2011680" cy="38404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6053328" y="3429000"/>
            <a:ext cx="2743200" cy="38404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4114800" y="3456432"/>
            <a:ext cx="1828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Tick width</a:t>
            </a:r>
            <a:endParaRPr b="0" i="0" sz="1200" u="none" cap="none" strike="noStrike">
              <a:solidFill>
                <a:schemeClr val="dk1"/>
              </a:solidFill>
              <a:latin typeface="Calibri"/>
              <a:ea typeface="Calibri"/>
              <a:cs typeface="Calibri"/>
              <a:sym typeface="Calibri"/>
            </a:endParaRPr>
          </a:p>
        </p:txBody>
      </p:sp>
      <p:sp>
        <p:nvSpPr>
          <p:cNvPr id="116" name="Google Shape;116;p3"/>
          <p:cNvSpPr/>
          <p:nvPr/>
        </p:nvSpPr>
        <p:spPr>
          <a:xfrm>
            <a:off x="6144768" y="3456432"/>
            <a:ext cx="25603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1 clock cycle</a:t>
            </a:r>
            <a:endParaRPr b="0" i="0" sz="1200" u="none" cap="none" strike="noStrike">
              <a:solidFill>
                <a:schemeClr val="dk1"/>
              </a:solidFill>
              <a:latin typeface="Calibri"/>
              <a:ea typeface="Calibri"/>
              <a:cs typeface="Calibri"/>
              <a:sym typeface="Calibri"/>
            </a:endParaRPr>
          </a:p>
        </p:txBody>
      </p:sp>
      <p:sp>
        <p:nvSpPr>
          <p:cNvPr id="117" name="Google Shape;117;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122" name="Shape 122"/>
        <p:cNvGrpSpPr/>
        <p:nvPr/>
      </p:nvGrpSpPr>
      <p:grpSpPr>
        <a:xfrm>
          <a:off x="0" y="0"/>
          <a:ext cx="0" cy="0"/>
          <a:chOff x="0" y="0"/>
          <a:chExt cx="0" cy="0"/>
        </a:xfrm>
      </p:grpSpPr>
      <p:sp>
        <p:nvSpPr>
          <p:cNvPr id="123" name="Google Shape;123;p4"/>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UART Receiver</a:t>
            </a:r>
            <a:endParaRPr b="0" i="0" sz="2400" u="none" cap="none" strike="noStrike">
              <a:solidFill>
                <a:schemeClr val="dk1"/>
              </a:solidFill>
              <a:latin typeface="Calibri"/>
              <a:ea typeface="Calibri"/>
              <a:cs typeface="Calibri"/>
              <a:sym typeface="Calibri"/>
            </a:endParaRPr>
          </a:p>
        </p:txBody>
      </p:sp>
      <p:sp>
        <p:nvSpPr>
          <p:cNvPr id="126" name="Google Shape;126;p4"/>
          <p:cNvSpPr/>
          <p:nvPr/>
        </p:nvSpPr>
        <p:spPr>
          <a:xfrm>
            <a:off x="6858000" y="822960"/>
            <a:ext cx="201168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5FA3"/>
              </a:buClr>
              <a:buSzPts val="1200"/>
              <a:buFont typeface="Consolas"/>
              <a:buNone/>
            </a:pPr>
            <a:r>
              <a:rPr b="0" i="0" lang="en-US" sz="1200" u="none" cap="none" strike="noStrike">
                <a:solidFill>
                  <a:srgbClr val="2E5FA3"/>
                </a:solidFill>
                <a:latin typeface="Consolas"/>
                <a:ea typeface="Consolas"/>
                <a:cs typeface="Consolas"/>
                <a:sym typeface="Consolas"/>
              </a:rPr>
              <a:t>uart_rx.vhd</a:t>
            </a:r>
            <a:endParaRPr b="0" i="0" sz="1200" u="none" cap="none" strike="noStrike">
              <a:solidFill>
                <a:schemeClr val="dk1"/>
              </a:solidFill>
              <a:latin typeface="Calibri"/>
              <a:ea typeface="Calibri"/>
              <a:cs typeface="Calibri"/>
              <a:sym typeface="Calibri"/>
            </a:endParaRPr>
          </a:p>
        </p:txBody>
      </p:sp>
      <p:sp>
        <p:nvSpPr>
          <p:cNvPr id="127" name="Google Shape;127;p4"/>
          <p:cNvSpPr/>
          <p:nvPr/>
        </p:nvSpPr>
        <p:spPr>
          <a:xfrm>
            <a:off x="411480" y="1874520"/>
            <a:ext cx="950976" cy="950976"/>
          </a:xfrm>
          <a:prstGeom prst="ellipse">
            <a:avLst/>
          </a:prstGeom>
          <a:solidFill>
            <a:srgbClr val="1C3A5E"/>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11480" y="1874520"/>
            <a:ext cx="950976" cy="9509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IDLE</a:t>
            </a:r>
            <a:endParaRPr b="0" i="0" sz="1300" u="none" cap="none" strike="noStrike">
              <a:solidFill>
                <a:schemeClr val="dk1"/>
              </a:solidFill>
              <a:latin typeface="Calibri"/>
              <a:ea typeface="Calibri"/>
              <a:cs typeface="Calibri"/>
              <a:sym typeface="Calibri"/>
            </a:endParaRPr>
          </a:p>
        </p:txBody>
      </p:sp>
      <p:cxnSp>
        <p:nvCxnSpPr>
          <p:cNvPr id="129" name="Google Shape;129;p4"/>
          <p:cNvCxnSpPr/>
          <p:nvPr/>
        </p:nvCxnSpPr>
        <p:spPr>
          <a:xfrm>
            <a:off x="1362456" y="2350008"/>
            <a:ext cx="1152144" cy="0"/>
          </a:xfrm>
          <a:prstGeom prst="straightConnector1">
            <a:avLst/>
          </a:prstGeom>
          <a:noFill/>
          <a:ln cap="flat" cmpd="sng" w="25400">
            <a:solidFill>
              <a:srgbClr val="F0A500"/>
            </a:solidFill>
            <a:prstDash val="solid"/>
            <a:round/>
            <a:headEnd len="sm" w="sm" type="none"/>
            <a:tailEnd len="sm" w="sm" type="none"/>
          </a:ln>
        </p:spPr>
      </p:cxnSp>
      <p:sp>
        <p:nvSpPr>
          <p:cNvPr id="130" name="Google Shape;130;p4"/>
          <p:cNvSpPr/>
          <p:nvPr/>
        </p:nvSpPr>
        <p:spPr>
          <a:xfrm>
            <a:off x="2148840" y="1874520"/>
            <a:ext cx="950976" cy="950976"/>
          </a:xfrm>
          <a:prstGeom prst="ellipse">
            <a:avLst/>
          </a:prstGeom>
          <a:solidFill>
            <a:srgbClr val="2E5FA3"/>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2148840" y="1874520"/>
            <a:ext cx="950976" cy="9509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START</a:t>
            </a:r>
            <a:endParaRPr b="0" i="0" sz="1300" u="none" cap="none" strike="noStrike">
              <a:solidFill>
                <a:schemeClr val="dk1"/>
              </a:solidFill>
              <a:latin typeface="Calibri"/>
              <a:ea typeface="Calibri"/>
              <a:cs typeface="Calibri"/>
              <a:sym typeface="Calibri"/>
            </a:endParaRPr>
          </a:p>
        </p:txBody>
      </p:sp>
      <p:cxnSp>
        <p:nvCxnSpPr>
          <p:cNvPr id="132" name="Google Shape;132;p4"/>
          <p:cNvCxnSpPr/>
          <p:nvPr/>
        </p:nvCxnSpPr>
        <p:spPr>
          <a:xfrm>
            <a:off x="3099816" y="2350008"/>
            <a:ext cx="1152144" cy="0"/>
          </a:xfrm>
          <a:prstGeom prst="straightConnector1">
            <a:avLst/>
          </a:prstGeom>
          <a:noFill/>
          <a:ln cap="flat" cmpd="sng" w="25400">
            <a:solidFill>
              <a:srgbClr val="F0A500"/>
            </a:solidFill>
            <a:prstDash val="solid"/>
            <a:round/>
            <a:headEnd len="sm" w="sm" type="none"/>
            <a:tailEnd len="sm" w="sm" type="none"/>
          </a:ln>
        </p:spPr>
      </p:cxnSp>
      <p:sp>
        <p:nvSpPr>
          <p:cNvPr id="133" name="Google Shape;133;p4"/>
          <p:cNvSpPr/>
          <p:nvPr/>
        </p:nvSpPr>
        <p:spPr>
          <a:xfrm>
            <a:off x="3886200" y="1874520"/>
            <a:ext cx="950976" cy="950976"/>
          </a:xfrm>
          <a:prstGeom prst="ellipse">
            <a:avLst/>
          </a:prstGeom>
          <a:solidFill>
            <a:srgbClr val="2E5FA3"/>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3886200" y="1874520"/>
            <a:ext cx="950976" cy="9509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DATA</a:t>
            </a:r>
            <a:endParaRPr b="0" i="0" sz="1300" u="none" cap="none" strike="noStrike">
              <a:solidFill>
                <a:schemeClr val="dk1"/>
              </a:solidFill>
              <a:latin typeface="Calibri"/>
              <a:ea typeface="Calibri"/>
              <a:cs typeface="Calibri"/>
              <a:sym typeface="Calibri"/>
            </a:endParaRPr>
          </a:p>
        </p:txBody>
      </p:sp>
      <p:cxnSp>
        <p:nvCxnSpPr>
          <p:cNvPr id="135" name="Google Shape;135;p4"/>
          <p:cNvCxnSpPr/>
          <p:nvPr/>
        </p:nvCxnSpPr>
        <p:spPr>
          <a:xfrm>
            <a:off x="4837176" y="2350008"/>
            <a:ext cx="1152144" cy="0"/>
          </a:xfrm>
          <a:prstGeom prst="straightConnector1">
            <a:avLst/>
          </a:prstGeom>
          <a:noFill/>
          <a:ln cap="flat" cmpd="sng" w="25400">
            <a:solidFill>
              <a:srgbClr val="F0A500"/>
            </a:solidFill>
            <a:prstDash val="solid"/>
            <a:round/>
            <a:headEnd len="sm" w="sm" type="none"/>
            <a:tailEnd len="sm" w="sm" type="none"/>
          </a:ln>
        </p:spPr>
      </p:cxnSp>
      <p:sp>
        <p:nvSpPr>
          <p:cNvPr id="136" name="Google Shape;136;p4"/>
          <p:cNvSpPr/>
          <p:nvPr/>
        </p:nvSpPr>
        <p:spPr>
          <a:xfrm>
            <a:off x="5623560" y="1874520"/>
            <a:ext cx="950976" cy="950976"/>
          </a:xfrm>
          <a:prstGeom prst="ellipse">
            <a:avLst/>
          </a:prstGeom>
          <a:solidFill>
            <a:srgbClr val="2E5FA3"/>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623560" y="1874520"/>
            <a:ext cx="950976" cy="9509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STOP</a:t>
            </a:r>
            <a:endParaRPr b="0" i="0" sz="1300" u="none" cap="none" strike="noStrike">
              <a:solidFill>
                <a:schemeClr val="dk1"/>
              </a:solidFill>
              <a:latin typeface="Calibri"/>
              <a:ea typeface="Calibri"/>
              <a:cs typeface="Calibri"/>
              <a:sym typeface="Calibri"/>
            </a:endParaRPr>
          </a:p>
        </p:txBody>
      </p:sp>
      <p:sp>
        <p:nvSpPr>
          <p:cNvPr id="138" name="Google Shape;138;p4"/>
          <p:cNvSpPr/>
          <p:nvPr/>
        </p:nvSpPr>
        <p:spPr>
          <a:xfrm>
            <a:off x="1581912" y="1984248"/>
            <a:ext cx="640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A500"/>
              </a:buClr>
              <a:buSzPts val="900"/>
              <a:buFont typeface="Calibri"/>
              <a:buNone/>
            </a:pPr>
            <a:r>
              <a:rPr b="0" i="0" lang="en-US" sz="900" u="none" cap="none" strike="noStrike">
                <a:solidFill>
                  <a:srgbClr val="F0A500"/>
                </a:solidFill>
                <a:latin typeface="Calibri"/>
                <a:ea typeface="Calibri"/>
                <a:cs typeface="Calibri"/>
                <a:sym typeface="Calibri"/>
              </a:rPr>
              <a:t>rx='0'</a:t>
            </a:r>
            <a:endParaRPr b="0" i="0" sz="900" u="none" cap="none" strike="noStrike">
              <a:solidFill>
                <a:schemeClr val="dk1"/>
              </a:solidFill>
              <a:latin typeface="Calibri"/>
              <a:ea typeface="Calibri"/>
              <a:cs typeface="Calibri"/>
              <a:sym typeface="Calibri"/>
            </a:endParaRPr>
          </a:p>
        </p:txBody>
      </p:sp>
      <p:sp>
        <p:nvSpPr>
          <p:cNvPr id="139" name="Google Shape;139;p4"/>
          <p:cNvSpPr/>
          <p:nvPr/>
        </p:nvSpPr>
        <p:spPr>
          <a:xfrm>
            <a:off x="3319272" y="1984248"/>
            <a:ext cx="6400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A500"/>
              </a:buClr>
              <a:buSzPts val="900"/>
              <a:buFont typeface="Calibri"/>
              <a:buNone/>
            </a:pPr>
            <a:r>
              <a:rPr b="0" i="0" lang="en-US" sz="900" u="none" cap="none" strike="noStrike">
                <a:solidFill>
                  <a:srgbClr val="F0A500"/>
                </a:solidFill>
                <a:latin typeface="Calibri"/>
                <a:ea typeface="Calibri"/>
                <a:cs typeface="Calibri"/>
                <a:sym typeface="Calibri"/>
              </a:rPr>
              <a:t>s_tick,</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A500"/>
              </a:buClr>
              <a:buSzPts val="900"/>
              <a:buFont typeface="Calibri"/>
              <a:buNone/>
            </a:pPr>
            <a:r>
              <a:rPr b="0" i="0" lang="en-US" sz="900" u="none" cap="none" strike="noStrike">
                <a:solidFill>
                  <a:srgbClr val="F0A500"/>
                </a:solidFill>
                <a:latin typeface="Calibri"/>
                <a:ea typeface="Calibri"/>
                <a:cs typeface="Calibri"/>
                <a:sym typeface="Calibri"/>
              </a:rPr>
              <a:t>s_cnt=7</a:t>
            </a:r>
            <a:endParaRPr b="0" i="0" sz="900" u="none" cap="none" strike="noStrike">
              <a:solidFill>
                <a:schemeClr val="dk1"/>
              </a:solidFill>
              <a:latin typeface="Calibri"/>
              <a:ea typeface="Calibri"/>
              <a:cs typeface="Calibri"/>
              <a:sym typeface="Calibri"/>
            </a:endParaRPr>
          </a:p>
        </p:txBody>
      </p:sp>
      <p:sp>
        <p:nvSpPr>
          <p:cNvPr id="140" name="Google Shape;140;p4"/>
          <p:cNvSpPr/>
          <p:nvPr/>
        </p:nvSpPr>
        <p:spPr>
          <a:xfrm>
            <a:off x="5056632" y="1984248"/>
            <a:ext cx="658368"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A500"/>
              </a:buClr>
              <a:buSzPts val="900"/>
              <a:buFont typeface="Calibri"/>
              <a:buNone/>
            </a:pPr>
            <a:r>
              <a:rPr b="0" i="0" lang="en-US" sz="900" u="none" cap="none" strike="noStrike">
                <a:solidFill>
                  <a:srgbClr val="F0A500"/>
                </a:solidFill>
                <a:latin typeface="Calibri"/>
                <a:ea typeface="Calibri"/>
                <a:cs typeface="Calibri"/>
                <a:sym typeface="Calibri"/>
              </a:rPr>
              <a:t>s_tick,</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A500"/>
              </a:buClr>
              <a:buSzPts val="900"/>
              <a:buFont typeface="Calibri"/>
              <a:buNone/>
            </a:pPr>
            <a:r>
              <a:rPr b="0" i="0" lang="en-US" sz="900" u="none" cap="none" strike="noStrike">
                <a:solidFill>
                  <a:srgbClr val="F0A500"/>
                </a:solidFill>
                <a:latin typeface="Calibri"/>
                <a:ea typeface="Calibri"/>
                <a:cs typeface="Calibri"/>
                <a:sym typeface="Calibri"/>
              </a:rPr>
              <a:t>n_cnt=7</a:t>
            </a:r>
            <a:endParaRPr b="0" i="0" sz="900" u="none" cap="none" strike="noStrike">
              <a:solidFill>
                <a:schemeClr val="dk1"/>
              </a:solidFill>
              <a:latin typeface="Calibri"/>
              <a:ea typeface="Calibri"/>
              <a:cs typeface="Calibri"/>
              <a:sym typeface="Calibri"/>
            </a:endParaRPr>
          </a:p>
        </p:txBody>
      </p:sp>
      <p:cxnSp>
        <p:nvCxnSpPr>
          <p:cNvPr id="141" name="Google Shape;141;p4"/>
          <p:cNvCxnSpPr/>
          <p:nvPr/>
        </p:nvCxnSpPr>
        <p:spPr>
          <a:xfrm>
            <a:off x="6565392" y="2359152"/>
            <a:ext cx="548640" cy="0"/>
          </a:xfrm>
          <a:prstGeom prst="straightConnector1">
            <a:avLst/>
          </a:prstGeom>
          <a:noFill/>
          <a:ln cap="flat" cmpd="sng" w="19050">
            <a:solidFill>
              <a:srgbClr val="64748B"/>
            </a:solidFill>
            <a:prstDash val="dash"/>
            <a:round/>
            <a:headEnd len="sm" w="sm" type="none"/>
            <a:tailEnd len="sm" w="sm" type="none"/>
          </a:ln>
        </p:spPr>
      </p:cxnSp>
      <p:cxnSp>
        <p:nvCxnSpPr>
          <p:cNvPr id="142" name="Google Shape;142;p4"/>
          <p:cNvCxnSpPr/>
          <p:nvPr/>
        </p:nvCxnSpPr>
        <p:spPr>
          <a:xfrm>
            <a:off x="7114032" y="2359152"/>
            <a:ext cx="0" cy="658368"/>
          </a:xfrm>
          <a:prstGeom prst="straightConnector1">
            <a:avLst/>
          </a:prstGeom>
          <a:noFill/>
          <a:ln cap="flat" cmpd="sng" w="19050">
            <a:solidFill>
              <a:srgbClr val="64748B"/>
            </a:solidFill>
            <a:prstDash val="dash"/>
            <a:round/>
            <a:headEnd len="sm" w="sm" type="none"/>
            <a:tailEnd len="sm" w="sm" type="none"/>
          </a:ln>
        </p:spPr>
      </p:cxnSp>
      <p:cxnSp>
        <p:nvCxnSpPr>
          <p:cNvPr id="143" name="Google Shape;143;p4"/>
          <p:cNvCxnSpPr/>
          <p:nvPr/>
        </p:nvCxnSpPr>
        <p:spPr>
          <a:xfrm>
            <a:off x="886968" y="3017520"/>
            <a:ext cx="6227064" cy="0"/>
          </a:xfrm>
          <a:prstGeom prst="straightConnector1">
            <a:avLst/>
          </a:prstGeom>
          <a:noFill/>
          <a:ln cap="flat" cmpd="sng" w="19050">
            <a:solidFill>
              <a:srgbClr val="64748B"/>
            </a:solidFill>
            <a:prstDash val="dash"/>
            <a:round/>
            <a:headEnd len="sm" w="sm" type="none"/>
            <a:tailEnd len="sm" w="sm" type="none"/>
          </a:ln>
        </p:spPr>
      </p:cxnSp>
      <p:cxnSp>
        <p:nvCxnSpPr>
          <p:cNvPr id="144" name="Google Shape;144;p4"/>
          <p:cNvCxnSpPr/>
          <p:nvPr/>
        </p:nvCxnSpPr>
        <p:spPr>
          <a:xfrm>
            <a:off x="881508" y="2828728"/>
            <a:ext cx="9000" cy="208200"/>
          </a:xfrm>
          <a:prstGeom prst="straightConnector1">
            <a:avLst/>
          </a:prstGeom>
          <a:noFill/>
          <a:ln cap="flat" cmpd="sng" w="19050">
            <a:solidFill>
              <a:srgbClr val="64748B"/>
            </a:solidFill>
            <a:prstDash val="dash"/>
            <a:round/>
            <a:headEnd len="sm" w="sm" type="none"/>
            <a:tailEnd len="sm" w="sm" type="none"/>
          </a:ln>
        </p:spPr>
      </p:cxnSp>
      <p:sp>
        <p:nvSpPr>
          <p:cNvPr id="145" name="Google Shape;145;p4"/>
          <p:cNvSpPr/>
          <p:nvPr/>
        </p:nvSpPr>
        <p:spPr>
          <a:xfrm>
            <a:off x="1371600" y="3054096"/>
            <a:ext cx="457200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SB_TICK done → rx_done='1'</a:t>
            </a:r>
            <a:endParaRPr b="0" i="0" sz="900" u="none" cap="none" strike="noStrike">
              <a:solidFill>
                <a:schemeClr val="dk1"/>
              </a:solidFill>
              <a:latin typeface="Calibri"/>
              <a:ea typeface="Calibri"/>
              <a:cs typeface="Calibri"/>
              <a:sym typeface="Calibri"/>
            </a:endParaRPr>
          </a:p>
        </p:txBody>
      </p:sp>
      <p:sp>
        <p:nvSpPr>
          <p:cNvPr id="146" name="Google Shape;146;p4"/>
          <p:cNvSpPr/>
          <p:nvPr/>
        </p:nvSpPr>
        <p:spPr>
          <a:xfrm>
            <a:off x="365760" y="3383280"/>
            <a:ext cx="4023360" cy="141732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365760" y="3383280"/>
            <a:ext cx="402336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475488" y="3410712"/>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149" name="Google Shape;149;p4"/>
          <p:cNvSpPr/>
          <p:nvPr/>
        </p:nvSpPr>
        <p:spPr>
          <a:xfrm>
            <a:off x="457200" y="3767328"/>
            <a:ext cx="3840480" cy="960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Wait for RX to go LOW (start bit detected)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Skip 7 ticks to center-align on start bit</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Sample RX at tick 15 (mid-bit) for each data bit</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Shift bits in LSB-first via 8-bit shift register</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Wait stop bit duration → assert rx_done for 1 cycle</a:t>
            </a:r>
            <a:endParaRPr b="0" i="0" sz="1100" u="none" cap="none" strike="noStrike">
              <a:solidFill>
                <a:schemeClr val="dk1"/>
              </a:solidFill>
              <a:latin typeface="Calibri"/>
              <a:ea typeface="Calibri"/>
              <a:cs typeface="Calibri"/>
              <a:sym typeface="Calibri"/>
            </a:endParaRPr>
          </a:p>
        </p:txBody>
      </p:sp>
      <p:sp>
        <p:nvSpPr>
          <p:cNvPr id="150" name="Google Shape;150;p4"/>
          <p:cNvSpPr/>
          <p:nvPr/>
        </p:nvSpPr>
        <p:spPr>
          <a:xfrm>
            <a:off x="4663440" y="3383280"/>
            <a:ext cx="4114800" cy="141732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4663440" y="3383280"/>
            <a:ext cx="4114800" cy="3200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4773168" y="3410712"/>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Key signals</a:t>
            </a:r>
            <a:endParaRPr b="0" i="0" sz="1200" u="none" cap="none" strike="noStrike">
              <a:solidFill>
                <a:schemeClr val="dk1"/>
              </a:solidFill>
              <a:latin typeface="Calibri"/>
              <a:ea typeface="Calibri"/>
              <a:cs typeface="Calibri"/>
              <a:sym typeface="Calibri"/>
            </a:endParaRPr>
          </a:p>
        </p:txBody>
      </p:sp>
      <p:sp>
        <p:nvSpPr>
          <p:cNvPr id="153" name="Google Shape;153;p4"/>
          <p:cNvSpPr/>
          <p:nvPr/>
        </p:nvSpPr>
        <p:spPr>
          <a:xfrm>
            <a:off x="4754880" y="3767328"/>
            <a:ext cx="3931920" cy="960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s_tick  — 16× baud tick from baud_gen</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rx_done — 1-cycle pulse when byte is ready</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dout    — received byte, stable until next frame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SB_TICK = 16 (one stop bit at 16 ticks per bit)</a:t>
            </a:r>
            <a:endParaRPr b="0" i="0" sz="1100" u="none" cap="none" strike="noStrike">
              <a:solidFill>
                <a:schemeClr val="dk1"/>
              </a:solidFill>
              <a:latin typeface="Calibri"/>
              <a:ea typeface="Calibri"/>
              <a:cs typeface="Calibri"/>
              <a:sym typeface="Calibri"/>
            </a:endParaRPr>
          </a:p>
        </p:txBody>
      </p:sp>
      <p:sp>
        <p:nvSpPr>
          <p:cNvPr id="154" name="Google Shape;154;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159" name="Shape 159"/>
        <p:cNvGrpSpPr/>
        <p:nvPr/>
      </p:nvGrpSpPr>
      <p:grpSpPr>
        <a:xfrm>
          <a:off x="0" y="0"/>
          <a:ext cx="0" cy="0"/>
          <a:chOff x="0" y="0"/>
          <a:chExt cx="0" cy="0"/>
        </a:xfrm>
      </p:grpSpPr>
      <p:sp>
        <p:nvSpPr>
          <p:cNvPr id="160" name="Google Shape;160;p5"/>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UART Transmitter</a:t>
            </a:r>
            <a:endParaRPr b="0" i="0" sz="2400" u="none" cap="none" strike="noStrike">
              <a:solidFill>
                <a:schemeClr val="dk1"/>
              </a:solidFill>
              <a:latin typeface="Calibri"/>
              <a:ea typeface="Calibri"/>
              <a:cs typeface="Calibri"/>
              <a:sym typeface="Calibri"/>
            </a:endParaRPr>
          </a:p>
        </p:txBody>
      </p:sp>
      <p:sp>
        <p:nvSpPr>
          <p:cNvPr id="163" name="Google Shape;163;p5"/>
          <p:cNvSpPr/>
          <p:nvPr/>
        </p:nvSpPr>
        <p:spPr>
          <a:xfrm>
            <a:off x="6600019" y="806836"/>
            <a:ext cx="20118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5FA3"/>
              </a:buClr>
              <a:buSzPts val="1200"/>
              <a:buFont typeface="Consolas"/>
              <a:buNone/>
            </a:pPr>
            <a:r>
              <a:rPr b="0" i="0" lang="en-US" sz="1200" u="none" cap="none" strike="noStrike">
                <a:solidFill>
                  <a:srgbClr val="2E5FA3"/>
                </a:solidFill>
                <a:latin typeface="Consolas"/>
                <a:ea typeface="Consolas"/>
                <a:cs typeface="Consolas"/>
                <a:sym typeface="Consolas"/>
              </a:rPr>
              <a:t>uart_tx.vhd</a:t>
            </a:r>
            <a:endParaRPr b="0" i="0" sz="1200" u="none" cap="none" strike="noStrike">
              <a:solidFill>
                <a:schemeClr val="dk1"/>
              </a:solidFill>
              <a:latin typeface="Calibri"/>
              <a:ea typeface="Calibri"/>
              <a:cs typeface="Calibri"/>
              <a:sym typeface="Calibri"/>
            </a:endParaRPr>
          </a:p>
        </p:txBody>
      </p:sp>
      <p:sp>
        <p:nvSpPr>
          <p:cNvPr id="164" name="Google Shape;164;p5"/>
          <p:cNvSpPr/>
          <p:nvPr/>
        </p:nvSpPr>
        <p:spPr>
          <a:xfrm>
            <a:off x="62059" y="1051560"/>
            <a:ext cx="822900" cy="347400"/>
          </a:xfrm>
          <a:prstGeom prst="rect">
            <a:avLst/>
          </a:prstGeom>
          <a:solidFill>
            <a:srgbClr val="C8D8F0"/>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8034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IDLE</a:t>
            </a:r>
            <a:endParaRPr b="0" i="0" sz="900" u="none" cap="none" strike="noStrike">
              <a:solidFill>
                <a:schemeClr val="dk1"/>
              </a:solidFill>
              <a:latin typeface="Calibri"/>
              <a:ea typeface="Calibri"/>
              <a:cs typeface="Calibri"/>
              <a:sym typeface="Calibri"/>
            </a:endParaRPr>
          </a:p>
        </p:txBody>
      </p:sp>
      <p:sp>
        <p:nvSpPr>
          <p:cNvPr id="166" name="Google Shape;166;p5"/>
          <p:cNvSpPr/>
          <p:nvPr/>
        </p:nvSpPr>
        <p:spPr>
          <a:xfrm>
            <a:off x="80347" y="1069848"/>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800"/>
              <a:buFont typeface="Consolas"/>
              <a:buNone/>
            </a:pPr>
            <a:r>
              <a:rPr b="0" i="0" lang="en-US" sz="800" u="none" cap="none" strike="noStrike">
                <a:solidFill>
                  <a:srgbClr val="1C3A5E"/>
                </a:solidFill>
                <a:latin typeface="Consolas"/>
                <a:ea typeface="Consolas"/>
                <a:cs typeface="Consolas"/>
                <a:sym typeface="Consolas"/>
              </a:rPr>
              <a:t>1</a:t>
            </a:r>
            <a:endParaRPr b="0" i="0" sz="800" u="none" cap="none" strike="noStrike">
              <a:solidFill>
                <a:schemeClr val="dk1"/>
              </a:solidFill>
              <a:latin typeface="Calibri"/>
              <a:ea typeface="Calibri"/>
              <a:cs typeface="Calibri"/>
              <a:sym typeface="Calibri"/>
            </a:endParaRPr>
          </a:p>
        </p:txBody>
      </p:sp>
      <p:sp>
        <p:nvSpPr>
          <p:cNvPr id="167" name="Google Shape;167;p5"/>
          <p:cNvSpPr/>
          <p:nvPr/>
        </p:nvSpPr>
        <p:spPr>
          <a:xfrm>
            <a:off x="885019" y="1399032"/>
            <a:ext cx="822900" cy="347400"/>
          </a:xfrm>
          <a:prstGeom prst="rect">
            <a:avLst/>
          </a:prstGeom>
          <a:solidFill>
            <a:srgbClr val="1C3A5E"/>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90330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START</a:t>
            </a:r>
            <a:endParaRPr b="0" i="0" sz="900" u="none" cap="none" strike="noStrike">
              <a:solidFill>
                <a:schemeClr val="dk1"/>
              </a:solidFill>
              <a:latin typeface="Calibri"/>
              <a:ea typeface="Calibri"/>
              <a:cs typeface="Calibri"/>
              <a:sym typeface="Calibri"/>
            </a:endParaRPr>
          </a:p>
        </p:txBody>
      </p:sp>
      <p:sp>
        <p:nvSpPr>
          <p:cNvPr id="169" name="Google Shape;169;p5"/>
          <p:cNvSpPr/>
          <p:nvPr/>
        </p:nvSpPr>
        <p:spPr>
          <a:xfrm>
            <a:off x="903307" y="178308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onsolas"/>
              <a:buNone/>
            </a:pPr>
            <a:r>
              <a:rPr b="0" i="0" lang="en-US" sz="800" u="none" cap="none" strike="noStrike">
                <a:solidFill>
                  <a:srgbClr val="FFFFFF"/>
                </a:solidFill>
                <a:latin typeface="Consolas"/>
                <a:ea typeface="Consolas"/>
                <a:cs typeface="Consolas"/>
                <a:sym typeface="Consolas"/>
              </a:rPr>
              <a:t>0</a:t>
            </a:r>
            <a:endParaRPr b="0" i="0" sz="800" u="none" cap="none" strike="noStrike">
              <a:solidFill>
                <a:schemeClr val="dk1"/>
              </a:solidFill>
              <a:latin typeface="Calibri"/>
              <a:ea typeface="Calibri"/>
              <a:cs typeface="Calibri"/>
              <a:sym typeface="Calibri"/>
            </a:endParaRPr>
          </a:p>
        </p:txBody>
      </p:sp>
      <p:sp>
        <p:nvSpPr>
          <p:cNvPr id="170" name="Google Shape;170;p5"/>
          <p:cNvSpPr/>
          <p:nvPr/>
        </p:nvSpPr>
        <p:spPr>
          <a:xfrm>
            <a:off x="1707979" y="1051560"/>
            <a:ext cx="822900" cy="347400"/>
          </a:xfrm>
          <a:prstGeom prst="rect">
            <a:avLst/>
          </a:prstGeom>
          <a:solidFill>
            <a:srgbClr val="C8D8F0"/>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172626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D0=1</a:t>
            </a:r>
            <a:endParaRPr b="0" i="0" sz="900" u="none" cap="none" strike="noStrike">
              <a:solidFill>
                <a:schemeClr val="dk1"/>
              </a:solidFill>
              <a:latin typeface="Calibri"/>
              <a:ea typeface="Calibri"/>
              <a:cs typeface="Calibri"/>
              <a:sym typeface="Calibri"/>
            </a:endParaRPr>
          </a:p>
        </p:txBody>
      </p:sp>
      <p:sp>
        <p:nvSpPr>
          <p:cNvPr id="172" name="Google Shape;172;p5"/>
          <p:cNvSpPr/>
          <p:nvPr/>
        </p:nvSpPr>
        <p:spPr>
          <a:xfrm>
            <a:off x="1726267" y="1069848"/>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800"/>
              <a:buFont typeface="Consolas"/>
              <a:buNone/>
            </a:pPr>
            <a:r>
              <a:rPr b="0" i="0" lang="en-US" sz="800" u="none" cap="none" strike="noStrike">
                <a:solidFill>
                  <a:srgbClr val="1C3A5E"/>
                </a:solidFill>
                <a:latin typeface="Consolas"/>
                <a:ea typeface="Consolas"/>
                <a:cs typeface="Consolas"/>
                <a:sym typeface="Consolas"/>
              </a:rPr>
              <a:t>1</a:t>
            </a:r>
            <a:endParaRPr b="0" i="0" sz="800" u="none" cap="none" strike="noStrike">
              <a:solidFill>
                <a:schemeClr val="dk1"/>
              </a:solidFill>
              <a:latin typeface="Calibri"/>
              <a:ea typeface="Calibri"/>
              <a:cs typeface="Calibri"/>
              <a:sym typeface="Calibri"/>
            </a:endParaRPr>
          </a:p>
        </p:txBody>
      </p:sp>
      <p:sp>
        <p:nvSpPr>
          <p:cNvPr id="173" name="Google Shape;173;p5"/>
          <p:cNvSpPr/>
          <p:nvPr/>
        </p:nvSpPr>
        <p:spPr>
          <a:xfrm>
            <a:off x="2530939" y="1399032"/>
            <a:ext cx="822900" cy="347400"/>
          </a:xfrm>
          <a:prstGeom prst="rect">
            <a:avLst/>
          </a:prstGeom>
          <a:solidFill>
            <a:srgbClr val="1C3A5E"/>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254922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D1=0</a:t>
            </a:r>
            <a:endParaRPr b="0" i="0" sz="900" u="none" cap="none" strike="noStrike">
              <a:solidFill>
                <a:schemeClr val="dk1"/>
              </a:solidFill>
              <a:latin typeface="Calibri"/>
              <a:ea typeface="Calibri"/>
              <a:cs typeface="Calibri"/>
              <a:sym typeface="Calibri"/>
            </a:endParaRPr>
          </a:p>
        </p:txBody>
      </p:sp>
      <p:sp>
        <p:nvSpPr>
          <p:cNvPr id="175" name="Google Shape;175;p5"/>
          <p:cNvSpPr/>
          <p:nvPr/>
        </p:nvSpPr>
        <p:spPr>
          <a:xfrm>
            <a:off x="2549227" y="178308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onsolas"/>
              <a:buNone/>
            </a:pPr>
            <a:r>
              <a:rPr b="0" i="0" lang="en-US" sz="800" u="none" cap="none" strike="noStrike">
                <a:solidFill>
                  <a:srgbClr val="FFFFFF"/>
                </a:solidFill>
                <a:latin typeface="Consolas"/>
                <a:ea typeface="Consolas"/>
                <a:cs typeface="Consolas"/>
                <a:sym typeface="Consolas"/>
              </a:rPr>
              <a:t>0</a:t>
            </a:r>
            <a:endParaRPr b="0" i="0" sz="800" u="none" cap="none" strike="noStrike">
              <a:solidFill>
                <a:schemeClr val="dk1"/>
              </a:solidFill>
              <a:latin typeface="Calibri"/>
              <a:ea typeface="Calibri"/>
              <a:cs typeface="Calibri"/>
              <a:sym typeface="Calibri"/>
            </a:endParaRPr>
          </a:p>
        </p:txBody>
      </p:sp>
      <p:sp>
        <p:nvSpPr>
          <p:cNvPr id="176" name="Google Shape;176;p5"/>
          <p:cNvSpPr/>
          <p:nvPr/>
        </p:nvSpPr>
        <p:spPr>
          <a:xfrm>
            <a:off x="3353899" y="1051560"/>
            <a:ext cx="822900" cy="347400"/>
          </a:xfrm>
          <a:prstGeom prst="rect">
            <a:avLst/>
          </a:prstGeom>
          <a:solidFill>
            <a:srgbClr val="C8D8F0"/>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337218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D2=1</a:t>
            </a:r>
            <a:endParaRPr b="0" i="0" sz="900" u="none" cap="none" strike="noStrike">
              <a:solidFill>
                <a:schemeClr val="dk1"/>
              </a:solidFill>
              <a:latin typeface="Calibri"/>
              <a:ea typeface="Calibri"/>
              <a:cs typeface="Calibri"/>
              <a:sym typeface="Calibri"/>
            </a:endParaRPr>
          </a:p>
        </p:txBody>
      </p:sp>
      <p:sp>
        <p:nvSpPr>
          <p:cNvPr id="178" name="Google Shape;178;p5"/>
          <p:cNvSpPr/>
          <p:nvPr/>
        </p:nvSpPr>
        <p:spPr>
          <a:xfrm>
            <a:off x="3372187" y="1069848"/>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800"/>
              <a:buFont typeface="Consolas"/>
              <a:buNone/>
            </a:pPr>
            <a:r>
              <a:rPr b="0" i="0" lang="en-US" sz="800" u="none" cap="none" strike="noStrike">
                <a:solidFill>
                  <a:srgbClr val="1C3A5E"/>
                </a:solidFill>
                <a:latin typeface="Consolas"/>
                <a:ea typeface="Consolas"/>
                <a:cs typeface="Consolas"/>
                <a:sym typeface="Consolas"/>
              </a:rPr>
              <a:t>1</a:t>
            </a:r>
            <a:endParaRPr b="0" i="0" sz="800" u="none" cap="none" strike="noStrike">
              <a:solidFill>
                <a:schemeClr val="dk1"/>
              </a:solidFill>
              <a:latin typeface="Calibri"/>
              <a:ea typeface="Calibri"/>
              <a:cs typeface="Calibri"/>
              <a:sym typeface="Calibri"/>
            </a:endParaRPr>
          </a:p>
        </p:txBody>
      </p:sp>
      <p:sp>
        <p:nvSpPr>
          <p:cNvPr id="179" name="Google Shape;179;p5"/>
          <p:cNvSpPr/>
          <p:nvPr/>
        </p:nvSpPr>
        <p:spPr>
          <a:xfrm>
            <a:off x="4176859" y="1399032"/>
            <a:ext cx="822900" cy="347400"/>
          </a:xfrm>
          <a:prstGeom prst="rect">
            <a:avLst/>
          </a:prstGeom>
          <a:solidFill>
            <a:srgbClr val="1C3A5E"/>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419514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D3=0</a:t>
            </a:r>
            <a:endParaRPr b="0" i="0" sz="900" u="none" cap="none" strike="noStrike">
              <a:solidFill>
                <a:schemeClr val="dk1"/>
              </a:solidFill>
              <a:latin typeface="Calibri"/>
              <a:ea typeface="Calibri"/>
              <a:cs typeface="Calibri"/>
              <a:sym typeface="Calibri"/>
            </a:endParaRPr>
          </a:p>
        </p:txBody>
      </p:sp>
      <p:sp>
        <p:nvSpPr>
          <p:cNvPr id="181" name="Google Shape;181;p5"/>
          <p:cNvSpPr/>
          <p:nvPr/>
        </p:nvSpPr>
        <p:spPr>
          <a:xfrm>
            <a:off x="4195147" y="178308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onsolas"/>
              <a:buNone/>
            </a:pPr>
            <a:r>
              <a:rPr b="0" i="0" lang="en-US" sz="800" u="none" cap="none" strike="noStrike">
                <a:solidFill>
                  <a:srgbClr val="FFFFFF"/>
                </a:solidFill>
                <a:latin typeface="Consolas"/>
                <a:ea typeface="Consolas"/>
                <a:cs typeface="Consolas"/>
                <a:sym typeface="Consolas"/>
              </a:rPr>
              <a:t>0</a:t>
            </a:r>
            <a:endParaRPr b="0" i="0" sz="800" u="none" cap="none" strike="noStrike">
              <a:solidFill>
                <a:schemeClr val="dk1"/>
              </a:solidFill>
              <a:latin typeface="Calibri"/>
              <a:ea typeface="Calibri"/>
              <a:cs typeface="Calibri"/>
              <a:sym typeface="Calibri"/>
            </a:endParaRPr>
          </a:p>
        </p:txBody>
      </p:sp>
      <p:sp>
        <p:nvSpPr>
          <p:cNvPr id="182" name="Google Shape;182;p5"/>
          <p:cNvSpPr/>
          <p:nvPr/>
        </p:nvSpPr>
        <p:spPr>
          <a:xfrm>
            <a:off x="4999819" y="1051560"/>
            <a:ext cx="822900" cy="347400"/>
          </a:xfrm>
          <a:prstGeom prst="rect">
            <a:avLst/>
          </a:prstGeom>
          <a:solidFill>
            <a:srgbClr val="C8D8F0"/>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501810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D4=1</a:t>
            </a:r>
            <a:endParaRPr b="0" i="0" sz="900" u="none" cap="none" strike="noStrike">
              <a:solidFill>
                <a:schemeClr val="dk1"/>
              </a:solidFill>
              <a:latin typeface="Calibri"/>
              <a:ea typeface="Calibri"/>
              <a:cs typeface="Calibri"/>
              <a:sym typeface="Calibri"/>
            </a:endParaRPr>
          </a:p>
        </p:txBody>
      </p:sp>
      <p:sp>
        <p:nvSpPr>
          <p:cNvPr id="184" name="Google Shape;184;p5"/>
          <p:cNvSpPr/>
          <p:nvPr/>
        </p:nvSpPr>
        <p:spPr>
          <a:xfrm>
            <a:off x="5018107" y="1069848"/>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800"/>
              <a:buFont typeface="Consolas"/>
              <a:buNone/>
            </a:pPr>
            <a:r>
              <a:rPr b="0" i="0" lang="en-US" sz="800" u="none" cap="none" strike="noStrike">
                <a:solidFill>
                  <a:srgbClr val="1C3A5E"/>
                </a:solidFill>
                <a:latin typeface="Consolas"/>
                <a:ea typeface="Consolas"/>
                <a:cs typeface="Consolas"/>
                <a:sym typeface="Consolas"/>
              </a:rPr>
              <a:t>1</a:t>
            </a:r>
            <a:endParaRPr b="0" i="0" sz="800" u="none" cap="none" strike="noStrike">
              <a:solidFill>
                <a:schemeClr val="dk1"/>
              </a:solidFill>
              <a:latin typeface="Calibri"/>
              <a:ea typeface="Calibri"/>
              <a:cs typeface="Calibri"/>
              <a:sym typeface="Calibri"/>
            </a:endParaRPr>
          </a:p>
        </p:txBody>
      </p:sp>
      <p:sp>
        <p:nvSpPr>
          <p:cNvPr id="185" name="Google Shape;185;p5"/>
          <p:cNvSpPr/>
          <p:nvPr/>
        </p:nvSpPr>
        <p:spPr>
          <a:xfrm>
            <a:off x="5822779" y="1399032"/>
            <a:ext cx="822900" cy="347400"/>
          </a:xfrm>
          <a:prstGeom prst="rect">
            <a:avLst/>
          </a:prstGeom>
          <a:solidFill>
            <a:srgbClr val="1C3A5E"/>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584106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D5=0</a:t>
            </a:r>
            <a:endParaRPr b="0" i="0" sz="900" u="none" cap="none" strike="noStrike">
              <a:solidFill>
                <a:schemeClr val="dk1"/>
              </a:solidFill>
              <a:latin typeface="Calibri"/>
              <a:ea typeface="Calibri"/>
              <a:cs typeface="Calibri"/>
              <a:sym typeface="Calibri"/>
            </a:endParaRPr>
          </a:p>
        </p:txBody>
      </p:sp>
      <p:sp>
        <p:nvSpPr>
          <p:cNvPr id="187" name="Google Shape;187;p5"/>
          <p:cNvSpPr/>
          <p:nvPr/>
        </p:nvSpPr>
        <p:spPr>
          <a:xfrm>
            <a:off x="5841067" y="178308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onsolas"/>
              <a:buNone/>
            </a:pPr>
            <a:r>
              <a:rPr b="0" i="0" lang="en-US" sz="800" u="none" cap="none" strike="noStrike">
                <a:solidFill>
                  <a:srgbClr val="FFFFFF"/>
                </a:solidFill>
                <a:latin typeface="Consolas"/>
                <a:ea typeface="Consolas"/>
                <a:cs typeface="Consolas"/>
                <a:sym typeface="Consolas"/>
              </a:rPr>
              <a:t>0</a:t>
            </a:r>
            <a:endParaRPr b="0" i="0" sz="800" u="none" cap="none" strike="noStrike">
              <a:solidFill>
                <a:schemeClr val="dk1"/>
              </a:solidFill>
              <a:latin typeface="Calibri"/>
              <a:ea typeface="Calibri"/>
              <a:cs typeface="Calibri"/>
              <a:sym typeface="Calibri"/>
            </a:endParaRPr>
          </a:p>
        </p:txBody>
      </p:sp>
      <p:sp>
        <p:nvSpPr>
          <p:cNvPr id="188" name="Google Shape;188;p5"/>
          <p:cNvSpPr/>
          <p:nvPr/>
        </p:nvSpPr>
        <p:spPr>
          <a:xfrm>
            <a:off x="6645739" y="1051560"/>
            <a:ext cx="822900" cy="347400"/>
          </a:xfrm>
          <a:prstGeom prst="rect">
            <a:avLst/>
          </a:prstGeom>
          <a:solidFill>
            <a:srgbClr val="C8D8F0"/>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666402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D6=1</a:t>
            </a:r>
            <a:endParaRPr b="0" i="0" sz="900" u="none" cap="none" strike="noStrike">
              <a:solidFill>
                <a:schemeClr val="dk1"/>
              </a:solidFill>
              <a:latin typeface="Calibri"/>
              <a:ea typeface="Calibri"/>
              <a:cs typeface="Calibri"/>
              <a:sym typeface="Calibri"/>
            </a:endParaRPr>
          </a:p>
        </p:txBody>
      </p:sp>
      <p:sp>
        <p:nvSpPr>
          <p:cNvPr id="190" name="Google Shape;190;p5"/>
          <p:cNvSpPr/>
          <p:nvPr/>
        </p:nvSpPr>
        <p:spPr>
          <a:xfrm>
            <a:off x="6664027" y="1069848"/>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800"/>
              <a:buFont typeface="Consolas"/>
              <a:buNone/>
            </a:pPr>
            <a:r>
              <a:rPr b="0" i="0" lang="en-US" sz="800" u="none" cap="none" strike="noStrike">
                <a:solidFill>
                  <a:srgbClr val="1C3A5E"/>
                </a:solidFill>
                <a:latin typeface="Consolas"/>
                <a:ea typeface="Consolas"/>
                <a:cs typeface="Consolas"/>
                <a:sym typeface="Consolas"/>
              </a:rPr>
              <a:t>1</a:t>
            </a:r>
            <a:endParaRPr b="0" i="0" sz="800" u="none" cap="none" strike="noStrike">
              <a:solidFill>
                <a:schemeClr val="dk1"/>
              </a:solidFill>
              <a:latin typeface="Calibri"/>
              <a:ea typeface="Calibri"/>
              <a:cs typeface="Calibri"/>
              <a:sym typeface="Calibri"/>
            </a:endParaRPr>
          </a:p>
        </p:txBody>
      </p:sp>
      <p:sp>
        <p:nvSpPr>
          <p:cNvPr id="191" name="Google Shape;191;p5"/>
          <p:cNvSpPr/>
          <p:nvPr/>
        </p:nvSpPr>
        <p:spPr>
          <a:xfrm>
            <a:off x="7468699" y="1399032"/>
            <a:ext cx="822900" cy="347400"/>
          </a:xfrm>
          <a:prstGeom prst="rect">
            <a:avLst/>
          </a:prstGeom>
          <a:solidFill>
            <a:srgbClr val="1C3A5E"/>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748698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D7=0</a:t>
            </a:r>
            <a:endParaRPr b="0" i="0" sz="900" u="none" cap="none" strike="noStrike">
              <a:solidFill>
                <a:schemeClr val="dk1"/>
              </a:solidFill>
              <a:latin typeface="Calibri"/>
              <a:ea typeface="Calibri"/>
              <a:cs typeface="Calibri"/>
              <a:sym typeface="Calibri"/>
            </a:endParaRPr>
          </a:p>
        </p:txBody>
      </p:sp>
      <p:sp>
        <p:nvSpPr>
          <p:cNvPr id="193" name="Google Shape;193;p5"/>
          <p:cNvSpPr/>
          <p:nvPr/>
        </p:nvSpPr>
        <p:spPr>
          <a:xfrm>
            <a:off x="7486987" y="178308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onsolas"/>
              <a:buNone/>
            </a:pPr>
            <a:r>
              <a:rPr b="0" i="0" lang="en-US" sz="800" u="none" cap="none" strike="noStrike">
                <a:solidFill>
                  <a:srgbClr val="FFFFFF"/>
                </a:solidFill>
                <a:latin typeface="Consolas"/>
                <a:ea typeface="Consolas"/>
                <a:cs typeface="Consolas"/>
                <a:sym typeface="Consolas"/>
              </a:rPr>
              <a:t>0</a:t>
            </a:r>
            <a:endParaRPr b="0" i="0" sz="800" u="none" cap="none" strike="noStrike">
              <a:solidFill>
                <a:schemeClr val="dk1"/>
              </a:solidFill>
              <a:latin typeface="Calibri"/>
              <a:ea typeface="Calibri"/>
              <a:cs typeface="Calibri"/>
              <a:sym typeface="Calibri"/>
            </a:endParaRPr>
          </a:p>
        </p:txBody>
      </p:sp>
      <p:sp>
        <p:nvSpPr>
          <p:cNvPr id="194" name="Google Shape;194;p5"/>
          <p:cNvSpPr/>
          <p:nvPr/>
        </p:nvSpPr>
        <p:spPr>
          <a:xfrm>
            <a:off x="8291659" y="1051560"/>
            <a:ext cx="822900" cy="347400"/>
          </a:xfrm>
          <a:prstGeom prst="rect">
            <a:avLst/>
          </a:prstGeom>
          <a:solidFill>
            <a:srgbClr val="C8D8F0"/>
          </a:solidFill>
          <a:ln cap="flat" cmpd="sng" w="127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8309947" y="1417320"/>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STOP</a:t>
            </a:r>
            <a:endParaRPr b="0" i="0" sz="900" u="none" cap="none" strike="noStrike">
              <a:solidFill>
                <a:schemeClr val="dk1"/>
              </a:solidFill>
              <a:latin typeface="Calibri"/>
              <a:ea typeface="Calibri"/>
              <a:cs typeface="Calibri"/>
              <a:sym typeface="Calibri"/>
            </a:endParaRPr>
          </a:p>
        </p:txBody>
      </p:sp>
      <p:sp>
        <p:nvSpPr>
          <p:cNvPr id="196" name="Google Shape;196;p5"/>
          <p:cNvSpPr/>
          <p:nvPr/>
        </p:nvSpPr>
        <p:spPr>
          <a:xfrm>
            <a:off x="8309947" y="1069848"/>
            <a:ext cx="78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800"/>
              <a:buFont typeface="Consolas"/>
              <a:buNone/>
            </a:pPr>
            <a:r>
              <a:rPr b="0" i="0" lang="en-US" sz="800" u="none" cap="none" strike="noStrike">
                <a:solidFill>
                  <a:srgbClr val="1C3A5E"/>
                </a:solidFill>
                <a:latin typeface="Consolas"/>
                <a:ea typeface="Consolas"/>
                <a:cs typeface="Consolas"/>
                <a:sym typeface="Consolas"/>
              </a:rPr>
              <a:t>1</a:t>
            </a:r>
            <a:endParaRPr b="0" i="0" sz="800" u="none" cap="none" strike="noStrike">
              <a:solidFill>
                <a:schemeClr val="dk1"/>
              </a:solidFill>
              <a:latin typeface="Calibri"/>
              <a:ea typeface="Calibri"/>
              <a:cs typeface="Calibri"/>
              <a:sym typeface="Calibri"/>
            </a:endParaRPr>
          </a:p>
        </p:txBody>
      </p:sp>
      <p:sp>
        <p:nvSpPr>
          <p:cNvPr id="197" name="Google Shape;197;p5"/>
          <p:cNvSpPr/>
          <p:nvPr/>
        </p:nvSpPr>
        <p:spPr>
          <a:xfrm>
            <a:off x="62059" y="777240"/>
            <a:ext cx="90525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000"/>
              <a:buFont typeface="Calibri"/>
              <a:buNone/>
            </a:pPr>
            <a:r>
              <a:rPr b="1" i="0" lang="en-US" sz="1000" u="none" cap="none" strike="noStrike">
                <a:solidFill>
                  <a:srgbClr val="1C3A5E"/>
                </a:solidFill>
                <a:latin typeface="Calibri"/>
                <a:ea typeface="Calibri"/>
                <a:cs typeface="Calibri"/>
                <a:sym typeface="Calibri"/>
              </a:rPr>
              <a:t>TX Line — example byte 0x55 (01010101), LSB-first</a:t>
            </a:r>
            <a:endParaRPr b="0" i="0" sz="1000" u="none" cap="none" strike="noStrike">
              <a:solidFill>
                <a:schemeClr val="dk1"/>
              </a:solidFill>
              <a:latin typeface="Calibri"/>
              <a:ea typeface="Calibri"/>
              <a:cs typeface="Calibri"/>
              <a:sym typeface="Calibri"/>
            </a:endParaRPr>
          </a:p>
        </p:txBody>
      </p:sp>
      <p:sp>
        <p:nvSpPr>
          <p:cNvPr id="198" name="Google Shape;198;p5"/>
          <p:cNvSpPr/>
          <p:nvPr/>
        </p:nvSpPr>
        <p:spPr>
          <a:xfrm>
            <a:off x="457200" y="2057400"/>
            <a:ext cx="1463040" cy="731520"/>
          </a:xfrm>
          <a:prstGeom prst="ellipse">
            <a:avLst/>
          </a:prstGeom>
          <a:solidFill>
            <a:srgbClr val="1C3A5E"/>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457200" y="2057400"/>
            <a:ext cx="146304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IDLE</a:t>
            </a:r>
            <a:endParaRPr b="0" i="0" sz="1400" u="none" cap="none" strike="noStrike">
              <a:solidFill>
                <a:schemeClr val="dk1"/>
              </a:solidFill>
              <a:latin typeface="Calibri"/>
              <a:ea typeface="Calibri"/>
              <a:cs typeface="Calibri"/>
              <a:sym typeface="Calibri"/>
            </a:endParaRPr>
          </a:p>
        </p:txBody>
      </p:sp>
      <p:cxnSp>
        <p:nvCxnSpPr>
          <p:cNvPr id="200" name="Google Shape;200;p5"/>
          <p:cNvCxnSpPr/>
          <p:nvPr/>
        </p:nvCxnSpPr>
        <p:spPr>
          <a:xfrm>
            <a:off x="1920240" y="2423160"/>
            <a:ext cx="713232" cy="0"/>
          </a:xfrm>
          <a:prstGeom prst="straightConnector1">
            <a:avLst/>
          </a:prstGeom>
          <a:noFill/>
          <a:ln cap="flat" cmpd="sng" w="25400">
            <a:solidFill>
              <a:srgbClr val="F0A500"/>
            </a:solidFill>
            <a:prstDash val="solid"/>
            <a:round/>
            <a:headEnd len="sm" w="sm" type="none"/>
            <a:tailEnd len="sm" w="sm" type="none"/>
          </a:ln>
        </p:spPr>
      </p:cxnSp>
      <p:sp>
        <p:nvSpPr>
          <p:cNvPr id="201" name="Google Shape;201;p5"/>
          <p:cNvSpPr/>
          <p:nvPr/>
        </p:nvSpPr>
        <p:spPr>
          <a:xfrm>
            <a:off x="2633472" y="2057400"/>
            <a:ext cx="1463040" cy="731520"/>
          </a:xfrm>
          <a:prstGeom prst="ellipse">
            <a:avLst/>
          </a:prstGeom>
          <a:solidFill>
            <a:srgbClr val="2E5FA3"/>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2633472" y="2057400"/>
            <a:ext cx="146304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START</a:t>
            </a:r>
            <a:endParaRPr b="0" i="0" sz="1400" u="none" cap="none" strike="noStrike">
              <a:solidFill>
                <a:schemeClr val="dk1"/>
              </a:solidFill>
              <a:latin typeface="Calibri"/>
              <a:ea typeface="Calibri"/>
              <a:cs typeface="Calibri"/>
              <a:sym typeface="Calibri"/>
            </a:endParaRPr>
          </a:p>
        </p:txBody>
      </p:sp>
      <p:cxnSp>
        <p:nvCxnSpPr>
          <p:cNvPr id="203" name="Google Shape;203;p5"/>
          <p:cNvCxnSpPr/>
          <p:nvPr/>
        </p:nvCxnSpPr>
        <p:spPr>
          <a:xfrm>
            <a:off x="4096512" y="2423160"/>
            <a:ext cx="713232" cy="0"/>
          </a:xfrm>
          <a:prstGeom prst="straightConnector1">
            <a:avLst/>
          </a:prstGeom>
          <a:noFill/>
          <a:ln cap="flat" cmpd="sng" w="25400">
            <a:solidFill>
              <a:srgbClr val="F0A500"/>
            </a:solidFill>
            <a:prstDash val="solid"/>
            <a:round/>
            <a:headEnd len="sm" w="sm" type="none"/>
            <a:tailEnd len="sm" w="sm" type="none"/>
          </a:ln>
        </p:spPr>
      </p:cxnSp>
      <p:sp>
        <p:nvSpPr>
          <p:cNvPr id="204" name="Google Shape;204;p5"/>
          <p:cNvSpPr/>
          <p:nvPr/>
        </p:nvSpPr>
        <p:spPr>
          <a:xfrm>
            <a:off x="4809744" y="2057400"/>
            <a:ext cx="1463040" cy="731520"/>
          </a:xfrm>
          <a:prstGeom prst="ellipse">
            <a:avLst/>
          </a:prstGeom>
          <a:solidFill>
            <a:srgbClr val="2E5FA3"/>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4809744" y="2057400"/>
            <a:ext cx="146304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DATA</a:t>
            </a:r>
            <a:endParaRPr b="0" i="0" sz="1400" u="none" cap="none" strike="noStrike">
              <a:solidFill>
                <a:schemeClr val="dk1"/>
              </a:solidFill>
              <a:latin typeface="Calibri"/>
              <a:ea typeface="Calibri"/>
              <a:cs typeface="Calibri"/>
              <a:sym typeface="Calibri"/>
            </a:endParaRPr>
          </a:p>
        </p:txBody>
      </p:sp>
      <p:cxnSp>
        <p:nvCxnSpPr>
          <p:cNvPr id="206" name="Google Shape;206;p5"/>
          <p:cNvCxnSpPr/>
          <p:nvPr/>
        </p:nvCxnSpPr>
        <p:spPr>
          <a:xfrm>
            <a:off x="6272784" y="2423160"/>
            <a:ext cx="713232" cy="0"/>
          </a:xfrm>
          <a:prstGeom prst="straightConnector1">
            <a:avLst/>
          </a:prstGeom>
          <a:noFill/>
          <a:ln cap="flat" cmpd="sng" w="25400">
            <a:solidFill>
              <a:srgbClr val="F0A500"/>
            </a:solidFill>
            <a:prstDash val="solid"/>
            <a:round/>
            <a:headEnd len="sm" w="sm" type="none"/>
            <a:tailEnd len="sm" w="sm" type="none"/>
          </a:ln>
        </p:spPr>
      </p:cxnSp>
      <p:sp>
        <p:nvSpPr>
          <p:cNvPr id="207" name="Google Shape;207;p5"/>
          <p:cNvSpPr/>
          <p:nvPr/>
        </p:nvSpPr>
        <p:spPr>
          <a:xfrm>
            <a:off x="6986016" y="2057400"/>
            <a:ext cx="1463040" cy="731520"/>
          </a:xfrm>
          <a:prstGeom prst="ellipse">
            <a:avLst/>
          </a:prstGeom>
          <a:solidFill>
            <a:srgbClr val="2E5FA3"/>
          </a:solidFill>
          <a:ln cap="flat" cmpd="sng" w="254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6986016" y="2057400"/>
            <a:ext cx="146304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STOP</a:t>
            </a:r>
            <a:endParaRPr b="0" i="0" sz="1400" u="none" cap="none" strike="noStrike">
              <a:solidFill>
                <a:schemeClr val="dk1"/>
              </a:solidFill>
              <a:latin typeface="Calibri"/>
              <a:ea typeface="Calibri"/>
              <a:cs typeface="Calibri"/>
              <a:sym typeface="Calibri"/>
            </a:endParaRPr>
          </a:p>
        </p:txBody>
      </p:sp>
      <p:sp>
        <p:nvSpPr>
          <p:cNvPr id="209" name="Google Shape;209;p5"/>
          <p:cNvSpPr/>
          <p:nvPr/>
        </p:nvSpPr>
        <p:spPr>
          <a:xfrm>
            <a:off x="365760" y="2926080"/>
            <a:ext cx="3931920" cy="192024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365760" y="2926080"/>
            <a:ext cx="393192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475488" y="2953512"/>
            <a:ext cx="3749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Transmission flow</a:t>
            </a:r>
            <a:endParaRPr b="0" i="0" sz="1200" u="none" cap="none" strike="noStrike">
              <a:solidFill>
                <a:schemeClr val="dk1"/>
              </a:solidFill>
              <a:latin typeface="Calibri"/>
              <a:ea typeface="Calibri"/>
              <a:cs typeface="Calibri"/>
              <a:sym typeface="Calibri"/>
            </a:endParaRPr>
          </a:p>
        </p:txBody>
      </p:sp>
      <p:sp>
        <p:nvSpPr>
          <p:cNvPr id="212" name="Google Shape;212;p5"/>
          <p:cNvSpPr/>
          <p:nvPr/>
        </p:nvSpPr>
        <p:spPr>
          <a:xfrm>
            <a:off x="457200" y="3310128"/>
            <a:ext cx="3749040" cy="14630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IDLE: tx='1', waits for tx_start='1'</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START: drives tx='0' for 16 ticks (1 bit period)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DATA: shifts out 8 bits LSB-first at 16 ticks/bit</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STOP: drives tx='1' for SB_TICK ticks</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Asserts tx_done for 1 cycle, returns to IDLE</a:t>
            </a:r>
            <a:endParaRPr b="0" i="0" sz="1100" u="none" cap="none" strike="noStrike">
              <a:solidFill>
                <a:schemeClr val="dk1"/>
              </a:solidFill>
              <a:latin typeface="Calibri"/>
              <a:ea typeface="Calibri"/>
              <a:cs typeface="Calibri"/>
              <a:sym typeface="Calibri"/>
            </a:endParaRPr>
          </a:p>
        </p:txBody>
      </p:sp>
      <p:sp>
        <p:nvSpPr>
          <p:cNvPr id="213" name="Google Shape;213;p5"/>
          <p:cNvSpPr/>
          <p:nvPr/>
        </p:nvSpPr>
        <p:spPr>
          <a:xfrm>
            <a:off x="4480560" y="2926080"/>
            <a:ext cx="4297680" cy="192024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4480560" y="2926080"/>
            <a:ext cx="4297680" cy="3200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4590288" y="2953512"/>
            <a:ext cx="4114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Design details</a:t>
            </a:r>
            <a:endParaRPr b="0" i="0" sz="1200" u="none" cap="none" strike="noStrike">
              <a:solidFill>
                <a:schemeClr val="dk1"/>
              </a:solidFill>
              <a:latin typeface="Calibri"/>
              <a:ea typeface="Calibri"/>
              <a:cs typeface="Calibri"/>
              <a:sym typeface="Calibri"/>
            </a:endParaRPr>
          </a:p>
        </p:txBody>
      </p:sp>
      <p:sp>
        <p:nvSpPr>
          <p:cNvPr id="216" name="Google Shape;216;p5"/>
          <p:cNvSpPr/>
          <p:nvPr/>
        </p:nvSpPr>
        <p:spPr>
          <a:xfrm>
            <a:off x="4572000" y="3310128"/>
            <a:ext cx="4114800" cy="14630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Separate state &amp; datapath registers for clean FSM style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b_reg holds byte; shifts right to expose next LSB</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s_reg counts ticks 0–15 within each bit period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n_reg counts data bits sent (0–7)</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tx_done registered to avoid glitches</a:t>
            </a:r>
            <a:endParaRPr b="0" i="0" sz="1100" u="none" cap="none" strike="noStrike">
              <a:solidFill>
                <a:schemeClr val="dk1"/>
              </a:solidFill>
              <a:latin typeface="Calibri"/>
              <a:ea typeface="Calibri"/>
              <a:cs typeface="Calibri"/>
              <a:sym typeface="Calibri"/>
            </a:endParaRPr>
          </a:p>
        </p:txBody>
      </p:sp>
      <p:sp>
        <p:nvSpPr>
          <p:cNvPr id="217" name="Google Shape;21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22" name="Shape 222"/>
        <p:cNvGrpSpPr/>
        <p:nvPr/>
      </p:nvGrpSpPr>
      <p:grpSpPr>
        <a:xfrm>
          <a:off x="0" y="0"/>
          <a:ext cx="0" cy="0"/>
          <a:chOff x="0" y="0"/>
          <a:chExt cx="0" cy="0"/>
        </a:xfrm>
      </p:grpSpPr>
      <p:sp>
        <p:nvSpPr>
          <p:cNvPr id="223" name="Google Shape;223;p6"/>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FIFO Buffer</a:t>
            </a:r>
            <a:endParaRPr b="0" i="0" sz="2400" u="none" cap="none" strike="noStrike">
              <a:solidFill>
                <a:schemeClr val="dk1"/>
              </a:solidFill>
              <a:latin typeface="Calibri"/>
              <a:ea typeface="Calibri"/>
              <a:cs typeface="Calibri"/>
              <a:sym typeface="Calibri"/>
            </a:endParaRPr>
          </a:p>
        </p:txBody>
      </p:sp>
      <p:sp>
        <p:nvSpPr>
          <p:cNvPr id="226" name="Google Shape;226;p6"/>
          <p:cNvSpPr/>
          <p:nvPr/>
        </p:nvSpPr>
        <p:spPr>
          <a:xfrm>
            <a:off x="6858000" y="742341"/>
            <a:ext cx="20118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5FA3"/>
              </a:buClr>
              <a:buSzPts val="1200"/>
              <a:buFont typeface="Consolas"/>
              <a:buNone/>
            </a:pPr>
            <a:r>
              <a:rPr b="0" i="0" lang="en-US" sz="1200" u="none" cap="none" strike="noStrike">
                <a:solidFill>
                  <a:srgbClr val="2E5FA3"/>
                </a:solidFill>
                <a:latin typeface="Consolas"/>
                <a:ea typeface="Consolas"/>
                <a:cs typeface="Consolas"/>
                <a:sym typeface="Consolas"/>
              </a:rPr>
              <a:t>fifo.vhd</a:t>
            </a:r>
            <a:endParaRPr b="0" i="0" sz="1200" u="none" cap="none" strike="noStrike">
              <a:solidFill>
                <a:schemeClr val="dk1"/>
              </a:solidFill>
              <a:latin typeface="Calibri"/>
              <a:ea typeface="Calibri"/>
              <a:cs typeface="Calibri"/>
              <a:sym typeface="Calibri"/>
            </a:endParaRPr>
          </a:p>
        </p:txBody>
      </p:sp>
      <p:sp>
        <p:nvSpPr>
          <p:cNvPr id="227" name="Google Shape;227;p6"/>
          <p:cNvSpPr/>
          <p:nvPr/>
        </p:nvSpPr>
        <p:spPr>
          <a:xfrm>
            <a:off x="801175" y="1307033"/>
            <a:ext cx="1828800" cy="1828800"/>
          </a:xfrm>
          <a:prstGeom prst="ellipse">
            <a:avLst/>
          </a:prstGeom>
          <a:solidFill>
            <a:srgbClr val="F2F5FA"/>
          </a:solidFill>
          <a:ln cap="flat" cmpd="sng" w="38100">
            <a:solidFill>
              <a:srgbClr val="1C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801175" y="1920240"/>
            <a:ext cx="18288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Circular</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Buffer</a:t>
            </a:r>
            <a:endParaRPr b="0" i="0" sz="1200" u="none" cap="none" strike="noStrike">
              <a:solidFill>
                <a:schemeClr val="dk1"/>
              </a:solidFill>
              <a:latin typeface="Calibri"/>
              <a:ea typeface="Calibri"/>
              <a:cs typeface="Calibri"/>
              <a:sym typeface="Calibri"/>
            </a:endParaRPr>
          </a:p>
        </p:txBody>
      </p:sp>
      <p:cxnSp>
        <p:nvCxnSpPr>
          <p:cNvPr id="229" name="Google Shape;229;p6"/>
          <p:cNvCxnSpPr/>
          <p:nvPr/>
        </p:nvCxnSpPr>
        <p:spPr>
          <a:xfrm>
            <a:off x="274320" y="2086781"/>
            <a:ext cx="497700" cy="2100"/>
          </a:xfrm>
          <a:prstGeom prst="straightConnector1">
            <a:avLst/>
          </a:prstGeom>
          <a:noFill/>
          <a:ln cap="flat" cmpd="sng" w="25400">
            <a:solidFill>
              <a:srgbClr val="2E5FA3"/>
            </a:solidFill>
            <a:prstDash val="solid"/>
            <a:round/>
            <a:headEnd len="sm" w="sm" type="none"/>
            <a:tailEnd len="sm" w="sm" type="none"/>
          </a:ln>
        </p:spPr>
      </p:cxnSp>
      <p:sp>
        <p:nvSpPr>
          <p:cNvPr id="230" name="Google Shape;230;p6"/>
          <p:cNvSpPr/>
          <p:nvPr/>
        </p:nvSpPr>
        <p:spPr>
          <a:xfrm>
            <a:off x="-91368" y="2062488"/>
            <a:ext cx="12801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000"/>
              <a:buFont typeface="Calibri"/>
              <a:buNone/>
            </a:pPr>
            <a:r>
              <a:rPr b="0" i="0" lang="en-US" sz="1000" u="none" cap="none" strike="noStrike">
                <a:solidFill>
                  <a:srgbClr val="2E5FA3"/>
                </a:solidFill>
                <a:latin typeface="Calibri"/>
                <a:ea typeface="Calibri"/>
                <a:cs typeface="Calibri"/>
                <a:sym typeface="Calibri"/>
              </a:rPr>
              <a:t>wr + w_data →</a:t>
            </a:r>
            <a:endParaRPr b="0" i="0" sz="1000" u="none" cap="none" strike="noStrike">
              <a:solidFill>
                <a:schemeClr val="dk1"/>
              </a:solidFill>
              <a:latin typeface="Calibri"/>
              <a:ea typeface="Calibri"/>
              <a:cs typeface="Calibri"/>
              <a:sym typeface="Calibri"/>
            </a:endParaRPr>
          </a:p>
        </p:txBody>
      </p:sp>
      <p:cxnSp>
        <p:nvCxnSpPr>
          <p:cNvPr id="231" name="Google Shape;231;p6"/>
          <p:cNvCxnSpPr/>
          <p:nvPr/>
        </p:nvCxnSpPr>
        <p:spPr>
          <a:xfrm flipH="1" rot="10800000">
            <a:off x="2653273" y="2059933"/>
            <a:ext cx="511800" cy="7500"/>
          </a:xfrm>
          <a:prstGeom prst="straightConnector1">
            <a:avLst/>
          </a:prstGeom>
          <a:noFill/>
          <a:ln cap="flat" cmpd="sng" w="25400">
            <a:solidFill>
              <a:srgbClr val="F0A500"/>
            </a:solidFill>
            <a:prstDash val="solid"/>
            <a:round/>
            <a:headEnd len="sm" w="sm" type="none"/>
            <a:tailEnd len="sm" w="sm" type="none"/>
          </a:ln>
        </p:spPr>
      </p:cxnSp>
      <p:sp>
        <p:nvSpPr>
          <p:cNvPr id="232" name="Google Shape;232;p6"/>
          <p:cNvSpPr/>
          <p:nvPr/>
        </p:nvSpPr>
        <p:spPr>
          <a:xfrm>
            <a:off x="2659714" y="2035615"/>
            <a:ext cx="9144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A500"/>
              </a:buClr>
              <a:buSzPts val="1000"/>
              <a:buFont typeface="Calibri"/>
              <a:buNone/>
            </a:pPr>
            <a:r>
              <a:rPr b="0" i="0" lang="en-US" sz="1000" u="none" cap="none" strike="noStrike">
                <a:solidFill>
                  <a:srgbClr val="F0A500"/>
                </a:solidFill>
                <a:latin typeface="Calibri"/>
                <a:ea typeface="Calibri"/>
                <a:cs typeface="Calibri"/>
                <a:sym typeface="Calibri"/>
              </a:rPr>
              <a:t>→ r_data</a:t>
            </a:r>
            <a:endParaRPr b="0" i="0" sz="1000" u="none" cap="none" strike="noStrike">
              <a:solidFill>
                <a:schemeClr val="dk1"/>
              </a:solidFill>
              <a:latin typeface="Calibri"/>
              <a:ea typeface="Calibri"/>
              <a:cs typeface="Calibri"/>
              <a:sym typeface="Calibri"/>
            </a:endParaRPr>
          </a:p>
        </p:txBody>
      </p:sp>
      <p:sp>
        <p:nvSpPr>
          <p:cNvPr id="233" name="Google Shape;233;p6"/>
          <p:cNvSpPr/>
          <p:nvPr/>
        </p:nvSpPr>
        <p:spPr>
          <a:xfrm>
            <a:off x="3749040" y="1005840"/>
            <a:ext cx="2377440" cy="164592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3749040" y="1005840"/>
            <a:ext cx="2377440" cy="3200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a:off x="3858768" y="103327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rx_fifo (RX path)</a:t>
            </a:r>
            <a:endParaRPr b="0" i="0" sz="1200" u="none" cap="none" strike="noStrike">
              <a:solidFill>
                <a:schemeClr val="dk1"/>
              </a:solidFill>
              <a:latin typeface="Calibri"/>
              <a:ea typeface="Calibri"/>
              <a:cs typeface="Calibri"/>
              <a:sym typeface="Calibri"/>
            </a:endParaRPr>
          </a:p>
        </p:txBody>
      </p:sp>
      <p:sp>
        <p:nvSpPr>
          <p:cNvPr id="236" name="Google Shape;236;p6"/>
          <p:cNvSpPr/>
          <p:nvPr/>
        </p:nvSpPr>
        <p:spPr>
          <a:xfrm>
            <a:off x="3840480" y="1389888"/>
            <a:ext cx="2194560" cy="1188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Depth: 16 entries (ADDR_W=4)</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wr  ← rx_done from uart_rx</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rd  ← fifo_rd from uart_fsm</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Decouples serial RX from FSM</a:t>
            </a:r>
            <a:endParaRPr b="0" i="0" sz="1100" u="none" cap="none" strike="noStrike">
              <a:solidFill>
                <a:schemeClr val="dk1"/>
              </a:solidFill>
              <a:latin typeface="Calibri"/>
              <a:ea typeface="Calibri"/>
              <a:cs typeface="Calibri"/>
              <a:sym typeface="Calibri"/>
            </a:endParaRPr>
          </a:p>
        </p:txBody>
      </p:sp>
      <p:sp>
        <p:nvSpPr>
          <p:cNvPr id="237" name="Google Shape;237;p6"/>
          <p:cNvSpPr/>
          <p:nvPr/>
        </p:nvSpPr>
        <p:spPr>
          <a:xfrm>
            <a:off x="6400800" y="1005840"/>
            <a:ext cx="2377440" cy="164592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a:off x="6400800" y="1005840"/>
            <a:ext cx="237744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a:off x="6510528" y="103327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tx_fifo (TX path)</a:t>
            </a:r>
            <a:endParaRPr b="0" i="0" sz="1200" u="none" cap="none" strike="noStrike">
              <a:solidFill>
                <a:schemeClr val="dk1"/>
              </a:solidFill>
              <a:latin typeface="Calibri"/>
              <a:ea typeface="Calibri"/>
              <a:cs typeface="Calibri"/>
              <a:sym typeface="Calibri"/>
            </a:endParaRPr>
          </a:p>
        </p:txBody>
      </p:sp>
      <p:sp>
        <p:nvSpPr>
          <p:cNvPr id="240" name="Google Shape;240;p6"/>
          <p:cNvSpPr/>
          <p:nvPr/>
        </p:nvSpPr>
        <p:spPr>
          <a:xfrm>
            <a:off x="6492240" y="1389888"/>
            <a:ext cx="2194560" cy="11887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Depth: 255 entries (ADDR_W=8)</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wr  ← result_valid from classifier</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rd  ← TX controller FSM</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Buffers all 128 results at once</a:t>
            </a:r>
            <a:endParaRPr b="0" i="0" sz="1100" u="none" cap="none" strike="noStrike">
              <a:solidFill>
                <a:schemeClr val="dk1"/>
              </a:solidFill>
              <a:latin typeface="Calibri"/>
              <a:ea typeface="Calibri"/>
              <a:cs typeface="Calibri"/>
              <a:sym typeface="Calibri"/>
            </a:endParaRPr>
          </a:p>
        </p:txBody>
      </p:sp>
      <p:sp>
        <p:nvSpPr>
          <p:cNvPr id="241" name="Google Shape;241;p6"/>
          <p:cNvSpPr/>
          <p:nvPr/>
        </p:nvSpPr>
        <p:spPr>
          <a:xfrm>
            <a:off x="3749040" y="2880360"/>
            <a:ext cx="5029200" cy="192024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a:off x="3749040" y="2880360"/>
            <a:ext cx="502920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p:nvPr/>
        </p:nvSpPr>
        <p:spPr>
          <a:xfrm>
            <a:off x="3858768" y="2907792"/>
            <a:ext cx="48463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Full / Empty logic</a:t>
            </a:r>
            <a:endParaRPr b="0" i="0" sz="1200" u="none" cap="none" strike="noStrike">
              <a:solidFill>
                <a:schemeClr val="dk1"/>
              </a:solidFill>
              <a:latin typeface="Calibri"/>
              <a:ea typeface="Calibri"/>
              <a:cs typeface="Calibri"/>
              <a:sym typeface="Calibri"/>
            </a:endParaRPr>
          </a:p>
        </p:txBody>
      </p:sp>
      <p:sp>
        <p:nvSpPr>
          <p:cNvPr id="244" name="Google Shape;244;p6"/>
          <p:cNvSpPr/>
          <p:nvPr/>
        </p:nvSpPr>
        <p:spPr>
          <a:xfrm>
            <a:off x="3840480" y="3264408"/>
            <a:ext cx="4846320" cy="14630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empty = '1' when w_ptr = r_ptr (no data)</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full  = '1' when ptr_inc(w_ptr) = r_ptr (one slot reserved)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Simultaneous rd+wr allowed — write permitted if rd happening</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Prevents ambiguity between full and empty states</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FWFT behavior: r_data valid while empty='0' (no extra rd strobe)</a:t>
            </a:r>
            <a:endParaRPr b="0" i="0" sz="1100" u="none" cap="none" strike="noStrike">
              <a:solidFill>
                <a:schemeClr val="dk1"/>
              </a:solidFill>
              <a:latin typeface="Calibri"/>
              <a:ea typeface="Calibri"/>
              <a:cs typeface="Calibri"/>
              <a:sym typeface="Calibri"/>
            </a:endParaRPr>
          </a:p>
        </p:txBody>
      </p:sp>
      <p:sp>
        <p:nvSpPr>
          <p:cNvPr id="245" name="Google Shape;245;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50" name="Shape 250"/>
        <p:cNvGrpSpPr/>
        <p:nvPr/>
      </p:nvGrpSpPr>
      <p:grpSpPr>
        <a:xfrm>
          <a:off x="0" y="0"/>
          <a:ext cx="0" cy="0"/>
          <a:chOff x="0" y="0"/>
          <a:chExt cx="0" cy="0"/>
        </a:xfrm>
      </p:grpSpPr>
      <p:sp>
        <p:nvSpPr>
          <p:cNvPr id="251" name="Google Shape;251;p7"/>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RAM Module &amp; FSM Controller</a:t>
            </a:r>
            <a:endParaRPr b="0" i="0" sz="2400" u="none" cap="none" strike="noStrike">
              <a:solidFill>
                <a:schemeClr val="dk1"/>
              </a:solidFill>
              <a:latin typeface="Calibri"/>
              <a:ea typeface="Calibri"/>
              <a:cs typeface="Calibri"/>
              <a:sym typeface="Calibri"/>
            </a:endParaRPr>
          </a:p>
        </p:txBody>
      </p:sp>
      <p:sp>
        <p:nvSpPr>
          <p:cNvPr id="254" name="Google Shape;254;p7"/>
          <p:cNvSpPr/>
          <p:nvPr/>
        </p:nvSpPr>
        <p:spPr>
          <a:xfrm>
            <a:off x="274320" y="868680"/>
            <a:ext cx="4114800" cy="214884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274320" y="868680"/>
            <a:ext cx="411480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384048" y="896112"/>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RAM Module — ram_module.vhd</a:t>
            </a:r>
            <a:endParaRPr b="0" i="0" sz="1200" u="none" cap="none" strike="noStrike">
              <a:solidFill>
                <a:schemeClr val="dk1"/>
              </a:solidFill>
              <a:latin typeface="Calibri"/>
              <a:ea typeface="Calibri"/>
              <a:cs typeface="Calibri"/>
              <a:sym typeface="Calibri"/>
            </a:endParaRPr>
          </a:p>
        </p:txBody>
      </p:sp>
      <p:sp>
        <p:nvSpPr>
          <p:cNvPr id="257" name="Google Shape;257;p7"/>
          <p:cNvSpPr/>
          <p:nvPr/>
        </p:nvSpPr>
        <p:spPr>
          <a:xfrm>
            <a:off x="365760" y="1252728"/>
            <a:ext cx="3931920" cy="16916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32-bit wide × 32-row synchronous block RAM</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Synchronous write: din → ram(addr) on rising edge when we='1'</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Synchronous read: 1-cycle latency (dout registered)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Inferred as Xilinx BRAM in synthesis</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Shared by FSM (write) and classifier (read) via mux</a:t>
            </a:r>
            <a:endParaRPr b="0" i="0" sz="1100" u="none" cap="none" strike="noStrike">
              <a:solidFill>
                <a:schemeClr val="dk1"/>
              </a:solidFill>
              <a:latin typeface="Calibri"/>
              <a:ea typeface="Calibri"/>
              <a:cs typeface="Calibri"/>
              <a:sym typeface="Calibri"/>
            </a:endParaRPr>
          </a:p>
        </p:txBody>
      </p:sp>
      <p:sp>
        <p:nvSpPr>
          <p:cNvPr id="258" name="Google Shape;258;p7"/>
          <p:cNvSpPr/>
          <p:nvPr/>
        </p:nvSpPr>
        <p:spPr>
          <a:xfrm>
            <a:off x="4663440" y="868680"/>
            <a:ext cx="4114800" cy="214884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4663440" y="868680"/>
            <a:ext cx="411480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4773168" y="896112"/>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FSM Controller — uart_fsm.vhd</a:t>
            </a:r>
            <a:endParaRPr b="0" i="0" sz="1200" u="none" cap="none" strike="noStrike">
              <a:solidFill>
                <a:schemeClr val="dk1"/>
              </a:solidFill>
              <a:latin typeface="Calibri"/>
              <a:ea typeface="Calibri"/>
              <a:cs typeface="Calibri"/>
              <a:sym typeface="Calibri"/>
            </a:endParaRPr>
          </a:p>
        </p:txBody>
      </p:sp>
      <p:sp>
        <p:nvSpPr>
          <p:cNvPr id="261" name="Google Shape;261;p7"/>
          <p:cNvSpPr/>
          <p:nvPr/>
        </p:nvSpPr>
        <p:spPr>
          <a:xfrm>
            <a:off x="4754880" y="1252728"/>
            <a:ext cx="3931920" cy="16916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IDLE → READ_BYTE → PACK → WRITE_RAM → DONE_PULSE → DONE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Reads one byte per state from FWFT FIFO</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Packs 4 bytes into 32-bit word (little-endian)</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Writes word to RAM every 4 bytes received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Pulses fsm_done after row 31 is written</a:t>
            </a:r>
            <a:endParaRPr b="0" i="0" sz="1100" u="none" cap="none" strike="noStrike">
              <a:solidFill>
                <a:schemeClr val="dk1"/>
              </a:solidFill>
              <a:latin typeface="Calibri"/>
              <a:ea typeface="Calibri"/>
              <a:cs typeface="Calibri"/>
              <a:sym typeface="Calibri"/>
            </a:endParaRPr>
          </a:p>
        </p:txBody>
      </p:sp>
      <p:sp>
        <p:nvSpPr>
          <p:cNvPr id="262" name="Google Shape;262;p7"/>
          <p:cNvSpPr/>
          <p:nvPr/>
        </p:nvSpPr>
        <p:spPr>
          <a:xfrm>
            <a:off x="274320" y="3154680"/>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alibri"/>
              <a:buNone/>
            </a:pPr>
            <a:r>
              <a:rPr b="1" i="0" lang="en-US" sz="1100" u="none" cap="none" strike="noStrike">
                <a:solidFill>
                  <a:srgbClr val="1C3A5E"/>
                </a:solidFill>
                <a:latin typeface="Calibri"/>
                <a:ea typeface="Calibri"/>
                <a:cs typeface="Calibri"/>
                <a:sym typeface="Calibri"/>
              </a:rPr>
              <a:t>Byte packing — little-endian:</a:t>
            </a:r>
            <a:endParaRPr b="0" i="0" sz="1100" u="none" cap="none" strike="noStrike">
              <a:solidFill>
                <a:schemeClr val="dk1"/>
              </a:solidFill>
              <a:latin typeface="Calibri"/>
              <a:ea typeface="Calibri"/>
              <a:cs typeface="Calibri"/>
              <a:sym typeface="Calibri"/>
            </a:endParaRPr>
          </a:p>
        </p:txBody>
      </p:sp>
      <p:sp>
        <p:nvSpPr>
          <p:cNvPr id="263" name="Google Shape;263;p7"/>
          <p:cNvSpPr/>
          <p:nvPr/>
        </p:nvSpPr>
        <p:spPr>
          <a:xfrm>
            <a:off x="274320" y="3474720"/>
            <a:ext cx="2011680" cy="640080"/>
          </a:xfrm>
          <a:prstGeom prst="rect">
            <a:avLst/>
          </a:prstGeom>
          <a:solidFill>
            <a:srgbClr val="4A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274320" y="3474720"/>
            <a:ext cx="2011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[31:24]</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byte3</a:t>
            </a:r>
            <a:endParaRPr b="0" i="0" sz="1100" u="none" cap="none" strike="noStrike">
              <a:solidFill>
                <a:schemeClr val="dk1"/>
              </a:solidFill>
              <a:latin typeface="Calibri"/>
              <a:ea typeface="Calibri"/>
              <a:cs typeface="Calibri"/>
              <a:sym typeface="Calibri"/>
            </a:endParaRPr>
          </a:p>
        </p:txBody>
      </p:sp>
      <p:sp>
        <p:nvSpPr>
          <p:cNvPr id="265" name="Google Shape;265;p7"/>
          <p:cNvSpPr/>
          <p:nvPr/>
        </p:nvSpPr>
        <p:spPr>
          <a:xfrm>
            <a:off x="2423160" y="3474720"/>
            <a:ext cx="2011680" cy="64008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423160" y="3474720"/>
            <a:ext cx="2011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[23:16]</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byte2</a:t>
            </a:r>
            <a:endParaRPr b="0" i="0" sz="1100" u="none" cap="none" strike="noStrike">
              <a:solidFill>
                <a:schemeClr val="dk1"/>
              </a:solidFill>
              <a:latin typeface="Calibri"/>
              <a:ea typeface="Calibri"/>
              <a:cs typeface="Calibri"/>
              <a:sym typeface="Calibri"/>
            </a:endParaRPr>
          </a:p>
        </p:txBody>
      </p:sp>
      <p:sp>
        <p:nvSpPr>
          <p:cNvPr id="267" name="Google Shape;267;p7"/>
          <p:cNvSpPr/>
          <p:nvPr/>
        </p:nvSpPr>
        <p:spPr>
          <a:xfrm>
            <a:off x="4572000" y="3474720"/>
            <a:ext cx="2011680" cy="640080"/>
          </a:xfrm>
          <a:prstGeom prst="rect">
            <a:avLst/>
          </a:prstGeom>
          <a:solidFill>
            <a:srgbClr val="1F4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572000" y="3474720"/>
            <a:ext cx="2011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[15:8]</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byte1</a:t>
            </a:r>
            <a:endParaRPr b="0" i="0" sz="1100" u="none" cap="none" strike="noStrike">
              <a:solidFill>
                <a:schemeClr val="dk1"/>
              </a:solidFill>
              <a:latin typeface="Calibri"/>
              <a:ea typeface="Calibri"/>
              <a:cs typeface="Calibri"/>
              <a:sym typeface="Calibri"/>
            </a:endParaRPr>
          </a:p>
        </p:txBody>
      </p:sp>
      <p:sp>
        <p:nvSpPr>
          <p:cNvPr id="269" name="Google Shape;269;p7"/>
          <p:cNvSpPr/>
          <p:nvPr/>
        </p:nvSpPr>
        <p:spPr>
          <a:xfrm>
            <a:off x="6720840" y="3474720"/>
            <a:ext cx="2011680" cy="64008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6720840" y="3474720"/>
            <a:ext cx="20116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[7:0]</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onsolas"/>
              <a:buNone/>
            </a:pPr>
            <a:r>
              <a:rPr b="0" i="0" lang="en-US" sz="1100" u="none" cap="none" strike="noStrike">
                <a:solidFill>
                  <a:srgbClr val="FFFFFF"/>
                </a:solidFill>
                <a:latin typeface="Consolas"/>
                <a:ea typeface="Consolas"/>
                <a:cs typeface="Consolas"/>
                <a:sym typeface="Consolas"/>
              </a:rPr>
              <a:t>byte0</a:t>
            </a:r>
            <a:endParaRPr b="0" i="0" sz="1100" u="none" cap="none" strike="noStrike">
              <a:solidFill>
                <a:schemeClr val="dk1"/>
              </a:solidFill>
              <a:latin typeface="Calibri"/>
              <a:ea typeface="Calibri"/>
              <a:cs typeface="Calibri"/>
              <a:sym typeface="Calibri"/>
            </a:endParaRPr>
          </a:p>
        </p:txBody>
      </p:sp>
      <p:sp>
        <p:nvSpPr>
          <p:cNvPr id="271" name="Google Shape;271;p7"/>
          <p:cNvSpPr/>
          <p:nvPr/>
        </p:nvSpPr>
        <p:spPr>
          <a:xfrm>
            <a:off x="274320" y="4206240"/>
            <a:ext cx="8503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byte0 = first received  ←  byte3 = fourth received</a:t>
            </a:r>
            <a:endParaRPr b="0" i="0" sz="1000" u="none" cap="none" strike="noStrike">
              <a:solidFill>
                <a:schemeClr val="dk1"/>
              </a:solidFill>
              <a:latin typeface="Calibri"/>
              <a:ea typeface="Calibri"/>
              <a:cs typeface="Calibri"/>
              <a:sym typeface="Calibri"/>
            </a:endParaRPr>
          </a:p>
        </p:txBody>
      </p:sp>
      <p:sp>
        <p:nvSpPr>
          <p:cNvPr id="272" name="Google Shape;272;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77" name="Shape 277"/>
        <p:cNvGrpSpPr/>
        <p:nvPr/>
      </p:nvGrpSpPr>
      <p:grpSpPr>
        <a:xfrm>
          <a:off x="0" y="0"/>
          <a:ext cx="0" cy="0"/>
          <a:chOff x="0" y="0"/>
          <a:chExt cx="0" cy="0"/>
        </a:xfrm>
      </p:grpSpPr>
      <p:sp>
        <p:nvSpPr>
          <p:cNvPr id="278" name="Google Shape;278;p8"/>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Classification Engine</a:t>
            </a:r>
            <a:endParaRPr b="0" i="0" sz="2400" u="none" cap="none" strike="noStrike">
              <a:solidFill>
                <a:schemeClr val="dk1"/>
              </a:solidFill>
              <a:latin typeface="Calibri"/>
              <a:ea typeface="Calibri"/>
              <a:cs typeface="Calibri"/>
              <a:sym typeface="Calibri"/>
            </a:endParaRPr>
          </a:p>
        </p:txBody>
      </p:sp>
      <p:sp>
        <p:nvSpPr>
          <p:cNvPr id="281" name="Google Shape;281;p8"/>
          <p:cNvSpPr/>
          <p:nvPr/>
        </p:nvSpPr>
        <p:spPr>
          <a:xfrm>
            <a:off x="5029200" y="753090"/>
            <a:ext cx="38406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5FA3"/>
              </a:buClr>
              <a:buSzPts val="1200"/>
              <a:buFont typeface="Consolas"/>
              <a:buNone/>
            </a:pPr>
            <a:r>
              <a:rPr b="0" i="0" lang="en-US" sz="1200" u="none" cap="none" strike="noStrike">
                <a:solidFill>
                  <a:srgbClr val="2E5FA3"/>
                </a:solidFill>
                <a:latin typeface="Consolas"/>
                <a:ea typeface="Consolas"/>
                <a:cs typeface="Consolas"/>
                <a:sym typeface="Consolas"/>
              </a:rPr>
              <a:t>classification_engine.vhd</a:t>
            </a:r>
            <a:endParaRPr b="0" i="0" sz="1200" u="none" cap="none" strike="noStrike">
              <a:solidFill>
                <a:schemeClr val="dk1"/>
              </a:solidFill>
              <a:latin typeface="Calibri"/>
              <a:ea typeface="Calibri"/>
              <a:cs typeface="Calibri"/>
              <a:sym typeface="Calibri"/>
            </a:endParaRPr>
          </a:p>
        </p:txBody>
      </p:sp>
      <p:sp>
        <p:nvSpPr>
          <p:cNvPr id="282" name="Google Shape;282;p8"/>
          <p:cNvSpPr/>
          <p:nvPr/>
        </p:nvSpPr>
        <p:spPr>
          <a:xfrm>
            <a:off x="320040" y="1005840"/>
            <a:ext cx="1965960" cy="1371600"/>
          </a:xfrm>
          <a:prstGeom prst="rect">
            <a:avLst/>
          </a:prstGeom>
          <a:solidFill>
            <a:srgbClr val="1C3A5E"/>
          </a:solidFill>
          <a:ln>
            <a:noFill/>
          </a:ln>
          <a:effectLst>
            <a:outerShdw blurRad="635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320040" y="1078992"/>
            <a:ext cx="19659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2600"/>
              <a:buFont typeface="Consolas"/>
              <a:buNone/>
            </a:pPr>
            <a:r>
              <a:rPr b="1" i="0" lang="en-US" sz="2600" u="none" cap="none" strike="noStrike">
                <a:solidFill>
                  <a:srgbClr val="F0A500"/>
                </a:solidFill>
                <a:latin typeface="Consolas"/>
                <a:ea typeface="Consolas"/>
                <a:cs typeface="Consolas"/>
                <a:sym typeface="Consolas"/>
              </a:rPr>
              <a:t>0x01</a:t>
            </a:r>
            <a:endParaRPr b="0" i="0" sz="2600" u="none" cap="none" strike="noStrike">
              <a:solidFill>
                <a:schemeClr val="dk1"/>
              </a:solidFill>
              <a:latin typeface="Calibri"/>
              <a:ea typeface="Calibri"/>
              <a:cs typeface="Calibri"/>
              <a:sym typeface="Calibri"/>
            </a:endParaRPr>
          </a:p>
        </p:txBody>
      </p:sp>
      <p:sp>
        <p:nvSpPr>
          <p:cNvPr id="284" name="Google Shape;284;p8"/>
          <p:cNvSpPr/>
          <p:nvPr/>
        </p:nvSpPr>
        <p:spPr>
          <a:xfrm>
            <a:off x="320040" y="1600200"/>
            <a:ext cx="1965960" cy="685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Uppercase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A–Z  (0x41–0x5A)</a:t>
            </a:r>
            <a:endParaRPr b="0" i="0" sz="1000" u="none" cap="none" strike="noStrike">
              <a:solidFill>
                <a:schemeClr val="dk1"/>
              </a:solidFill>
              <a:latin typeface="Calibri"/>
              <a:ea typeface="Calibri"/>
              <a:cs typeface="Calibri"/>
              <a:sym typeface="Calibri"/>
            </a:endParaRPr>
          </a:p>
        </p:txBody>
      </p:sp>
      <p:sp>
        <p:nvSpPr>
          <p:cNvPr id="285" name="Google Shape;285;p8"/>
          <p:cNvSpPr/>
          <p:nvPr/>
        </p:nvSpPr>
        <p:spPr>
          <a:xfrm>
            <a:off x="2514600" y="1005840"/>
            <a:ext cx="1965960" cy="1371600"/>
          </a:xfrm>
          <a:prstGeom prst="rect">
            <a:avLst/>
          </a:prstGeom>
          <a:solidFill>
            <a:srgbClr val="2E5FA3"/>
          </a:solidFill>
          <a:ln>
            <a:noFill/>
          </a:ln>
          <a:effectLst>
            <a:outerShdw blurRad="635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2514600" y="1078992"/>
            <a:ext cx="19659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2600"/>
              <a:buFont typeface="Consolas"/>
              <a:buNone/>
            </a:pPr>
            <a:r>
              <a:rPr b="1" i="0" lang="en-US" sz="2600" u="none" cap="none" strike="noStrike">
                <a:solidFill>
                  <a:srgbClr val="F0A500"/>
                </a:solidFill>
                <a:latin typeface="Consolas"/>
                <a:ea typeface="Consolas"/>
                <a:cs typeface="Consolas"/>
                <a:sym typeface="Consolas"/>
              </a:rPr>
              <a:t>0x02</a:t>
            </a:r>
            <a:endParaRPr b="0" i="0" sz="2600" u="none" cap="none" strike="noStrike">
              <a:solidFill>
                <a:schemeClr val="dk1"/>
              </a:solidFill>
              <a:latin typeface="Calibri"/>
              <a:ea typeface="Calibri"/>
              <a:cs typeface="Calibri"/>
              <a:sym typeface="Calibri"/>
            </a:endParaRPr>
          </a:p>
        </p:txBody>
      </p:sp>
      <p:sp>
        <p:nvSpPr>
          <p:cNvPr id="287" name="Google Shape;287;p8"/>
          <p:cNvSpPr/>
          <p:nvPr/>
        </p:nvSpPr>
        <p:spPr>
          <a:xfrm>
            <a:off x="2514600" y="1600200"/>
            <a:ext cx="1965960" cy="685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Lowercase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a–z  (0x61–0x7A)</a:t>
            </a:r>
            <a:endParaRPr b="0" i="0" sz="1000" u="none" cap="none" strike="noStrike">
              <a:solidFill>
                <a:schemeClr val="dk1"/>
              </a:solidFill>
              <a:latin typeface="Calibri"/>
              <a:ea typeface="Calibri"/>
              <a:cs typeface="Calibri"/>
              <a:sym typeface="Calibri"/>
            </a:endParaRPr>
          </a:p>
        </p:txBody>
      </p:sp>
      <p:sp>
        <p:nvSpPr>
          <p:cNvPr id="288" name="Google Shape;288;p8"/>
          <p:cNvSpPr/>
          <p:nvPr/>
        </p:nvSpPr>
        <p:spPr>
          <a:xfrm>
            <a:off x="4709160" y="1005840"/>
            <a:ext cx="1965960" cy="1371600"/>
          </a:xfrm>
          <a:prstGeom prst="rect">
            <a:avLst/>
          </a:prstGeom>
          <a:solidFill>
            <a:srgbClr val="4A6FA5"/>
          </a:solidFill>
          <a:ln>
            <a:noFill/>
          </a:ln>
          <a:effectLst>
            <a:outerShdw blurRad="635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4709160" y="1078992"/>
            <a:ext cx="19659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2600"/>
              <a:buFont typeface="Consolas"/>
              <a:buNone/>
            </a:pPr>
            <a:r>
              <a:rPr b="1" i="0" lang="en-US" sz="2600" u="none" cap="none" strike="noStrike">
                <a:solidFill>
                  <a:srgbClr val="F0A500"/>
                </a:solidFill>
                <a:latin typeface="Consolas"/>
                <a:ea typeface="Consolas"/>
                <a:cs typeface="Consolas"/>
                <a:sym typeface="Consolas"/>
              </a:rPr>
              <a:t>0x03</a:t>
            </a:r>
            <a:endParaRPr b="0" i="0" sz="2600" u="none" cap="none" strike="noStrike">
              <a:solidFill>
                <a:schemeClr val="dk1"/>
              </a:solidFill>
              <a:latin typeface="Calibri"/>
              <a:ea typeface="Calibri"/>
              <a:cs typeface="Calibri"/>
              <a:sym typeface="Calibri"/>
            </a:endParaRPr>
          </a:p>
        </p:txBody>
      </p:sp>
      <p:sp>
        <p:nvSpPr>
          <p:cNvPr id="290" name="Google Shape;290;p8"/>
          <p:cNvSpPr/>
          <p:nvPr/>
        </p:nvSpPr>
        <p:spPr>
          <a:xfrm>
            <a:off x="4709160" y="1600200"/>
            <a:ext cx="1965960" cy="685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Digit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0–9  (0x30–0x39)</a:t>
            </a:r>
            <a:endParaRPr b="0" i="0" sz="1000" u="none" cap="none" strike="noStrike">
              <a:solidFill>
                <a:schemeClr val="dk1"/>
              </a:solidFill>
              <a:latin typeface="Calibri"/>
              <a:ea typeface="Calibri"/>
              <a:cs typeface="Calibri"/>
              <a:sym typeface="Calibri"/>
            </a:endParaRPr>
          </a:p>
        </p:txBody>
      </p:sp>
      <p:sp>
        <p:nvSpPr>
          <p:cNvPr id="291" name="Google Shape;291;p8"/>
          <p:cNvSpPr/>
          <p:nvPr/>
        </p:nvSpPr>
        <p:spPr>
          <a:xfrm>
            <a:off x="6903720" y="1005840"/>
            <a:ext cx="1965960" cy="1371600"/>
          </a:xfrm>
          <a:prstGeom prst="rect">
            <a:avLst/>
          </a:prstGeom>
          <a:solidFill>
            <a:srgbClr val="8EA8C3"/>
          </a:solidFill>
          <a:ln>
            <a:noFill/>
          </a:ln>
          <a:effectLst>
            <a:outerShdw blurRad="635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6903720" y="1078992"/>
            <a:ext cx="19659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2600"/>
              <a:buFont typeface="Consolas"/>
              <a:buNone/>
            </a:pPr>
            <a:r>
              <a:rPr b="1" i="0" lang="en-US" sz="2600" u="none" cap="none" strike="noStrike">
                <a:solidFill>
                  <a:srgbClr val="F0A500"/>
                </a:solidFill>
                <a:latin typeface="Consolas"/>
                <a:ea typeface="Consolas"/>
                <a:cs typeface="Consolas"/>
                <a:sym typeface="Consolas"/>
              </a:rPr>
              <a:t>0x00</a:t>
            </a:r>
            <a:endParaRPr b="0" i="0" sz="2600" u="none" cap="none" strike="noStrike">
              <a:solidFill>
                <a:schemeClr val="dk1"/>
              </a:solidFill>
              <a:latin typeface="Calibri"/>
              <a:ea typeface="Calibri"/>
              <a:cs typeface="Calibri"/>
              <a:sym typeface="Calibri"/>
            </a:endParaRPr>
          </a:p>
        </p:txBody>
      </p:sp>
      <p:sp>
        <p:nvSpPr>
          <p:cNvPr id="293" name="Google Shape;293;p8"/>
          <p:cNvSpPr/>
          <p:nvPr/>
        </p:nvSpPr>
        <p:spPr>
          <a:xfrm>
            <a:off x="6903720" y="1600200"/>
            <a:ext cx="1965960" cy="685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Other</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F0"/>
              </a:buClr>
              <a:buSzPts val="1000"/>
              <a:buFont typeface="Calibri"/>
              <a:buNone/>
            </a:pPr>
            <a:r>
              <a:rPr b="0" i="0" lang="en-US" sz="1000" u="none" cap="none" strike="noStrike">
                <a:solidFill>
                  <a:srgbClr val="C8D8F0"/>
                </a:solidFill>
                <a:latin typeface="Calibri"/>
                <a:ea typeface="Calibri"/>
                <a:cs typeface="Calibri"/>
                <a:sym typeface="Calibri"/>
              </a:rPr>
              <a:t>anything else</a:t>
            </a:r>
            <a:endParaRPr b="0" i="0" sz="1000" u="none" cap="none" strike="noStrike">
              <a:solidFill>
                <a:schemeClr val="dk1"/>
              </a:solidFill>
              <a:latin typeface="Calibri"/>
              <a:ea typeface="Calibri"/>
              <a:cs typeface="Calibri"/>
              <a:sym typeface="Calibri"/>
            </a:endParaRPr>
          </a:p>
        </p:txBody>
      </p:sp>
      <p:sp>
        <p:nvSpPr>
          <p:cNvPr id="294" name="Google Shape;294;p8"/>
          <p:cNvSpPr/>
          <p:nvPr/>
        </p:nvSpPr>
        <p:spPr>
          <a:xfrm>
            <a:off x="320040" y="2560320"/>
            <a:ext cx="1298448" cy="5486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320040" y="2560320"/>
            <a:ext cx="129844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IDLE</a:t>
            </a:r>
            <a:endParaRPr b="0" i="0" sz="1000" u="none" cap="none" strike="noStrike">
              <a:solidFill>
                <a:schemeClr val="dk1"/>
              </a:solidFill>
              <a:latin typeface="Calibri"/>
              <a:ea typeface="Calibri"/>
              <a:cs typeface="Calibri"/>
              <a:sym typeface="Calibri"/>
            </a:endParaRPr>
          </a:p>
        </p:txBody>
      </p:sp>
      <p:cxnSp>
        <p:nvCxnSpPr>
          <p:cNvPr id="296" name="Google Shape;296;p8"/>
          <p:cNvCxnSpPr/>
          <p:nvPr/>
        </p:nvCxnSpPr>
        <p:spPr>
          <a:xfrm>
            <a:off x="1618488" y="2834640"/>
            <a:ext cx="164592" cy="0"/>
          </a:xfrm>
          <a:prstGeom prst="straightConnector1">
            <a:avLst/>
          </a:prstGeom>
          <a:noFill/>
          <a:ln cap="flat" cmpd="sng" w="19050">
            <a:solidFill>
              <a:srgbClr val="F0A500"/>
            </a:solidFill>
            <a:prstDash val="solid"/>
            <a:round/>
            <a:headEnd len="sm" w="sm" type="none"/>
            <a:tailEnd len="sm" w="sm" type="none"/>
          </a:ln>
        </p:spPr>
      </p:cxnSp>
      <p:sp>
        <p:nvSpPr>
          <p:cNvPr id="297" name="Google Shape;297;p8"/>
          <p:cNvSpPr/>
          <p:nvPr/>
        </p:nvSpPr>
        <p:spPr>
          <a:xfrm>
            <a:off x="1783080" y="2560320"/>
            <a:ext cx="1298448" cy="5486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1783080" y="2560320"/>
            <a:ext cx="129844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READ_ADDR</a:t>
            </a:r>
            <a:endParaRPr b="0" i="0" sz="1000" u="none" cap="none" strike="noStrike">
              <a:solidFill>
                <a:schemeClr val="dk1"/>
              </a:solidFill>
              <a:latin typeface="Calibri"/>
              <a:ea typeface="Calibri"/>
              <a:cs typeface="Calibri"/>
              <a:sym typeface="Calibri"/>
            </a:endParaRPr>
          </a:p>
        </p:txBody>
      </p:sp>
      <p:cxnSp>
        <p:nvCxnSpPr>
          <p:cNvPr id="299" name="Google Shape;299;p8"/>
          <p:cNvCxnSpPr/>
          <p:nvPr/>
        </p:nvCxnSpPr>
        <p:spPr>
          <a:xfrm>
            <a:off x="3081528" y="2834640"/>
            <a:ext cx="164592" cy="0"/>
          </a:xfrm>
          <a:prstGeom prst="straightConnector1">
            <a:avLst/>
          </a:prstGeom>
          <a:noFill/>
          <a:ln cap="flat" cmpd="sng" w="19050">
            <a:solidFill>
              <a:srgbClr val="F0A500"/>
            </a:solidFill>
            <a:prstDash val="solid"/>
            <a:round/>
            <a:headEnd len="sm" w="sm" type="none"/>
            <a:tailEnd len="sm" w="sm" type="none"/>
          </a:ln>
        </p:spPr>
      </p:cxnSp>
      <p:sp>
        <p:nvSpPr>
          <p:cNvPr id="300" name="Google Shape;300;p8"/>
          <p:cNvSpPr/>
          <p:nvPr/>
        </p:nvSpPr>
        <p:spPr>
          <a:xfrm>
            <a:off x="3246120" y="2560320"/>
            <a:ext cx="1298448" cy="5486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a:off x="3246120" y="2560320"/>
            <a:ext cx="129844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WAIT_RAM</a:t>
            </a:r>
            <a:endParaRPr b="0" i="0" sz="1000" u="none" cap="none" strike="noStrike">
              <a:solidFill>
                <a:schemeClr val="dk1"/>
              </a:solidFill>
              <a:latin typeface="Calibri"/>
              <a:ea typeface="Calibri"/>
              <a:cs typeface="Calibri"/>
              <a:sym typeface="Calibri"/>
            </a:endParaRPr>
          </a:p>
        </p:txBody>
      </p:sp>
      <p:cxnSp>
        <p:nvCxnSpPr>
          <p:cNvPr id="302" name="Google Shape;302;p8"/>
          <p:cNvCxnSpPr/>
          <p:nvPr/>
        </p:nvCxnSpPr>
        <p:spPr>
          <a:xfrm>
            <a:off x="4544568" y="2834640"/>
            <a:ext cx="164592" cy="0"/>
          </a:xfrm>
          <a:prstGeom prst="straightConnector1">
            <a:avLst/>
          </a:prstGeom>
          <a:noFill/>
          <a:ln cap="flat" cmpd="sng" w="19050">
            <a:solidFill>
              <a:srgbClr val="F0A500"/>
            </a:solidFill>
            <a:prstDash val="solid"/>
            <a:round/>
            <a:headEnd len="sm" w="sm" type="none"/>
            <a:tailEnd len="sm" w="sm" type="none"/>
          </a:ln>
        </p:spPr>
      </p:cxnSp>
      <p:sp>
        <p:nvSpPr>
          <p:cNvPr id="303" name="Google Shape;303;p8"/>
          <p:cNvSpPr/>
          <p:nvPr/>
        </p:nvSpPr>
        <p:spPr>
          <a:xfrm>
            <a:off x="4709160" y="2560320"/>
            <a:ext cx="1298448" cy="5486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4709160" y="2560320"/>
            <a:ext cx="129844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CLASSIFY</a:t>
            </a:r>
            <a:endParaRPr b="0" i="0" sz="1000" u="none" cap="none" strike="noStrike">
              <a:solidFill>
                <a:schemeClr val="dk1"/>
              </a:solidFill>
              <a:latin typeface="Calibri"/>
              <a:ea typeface="Calibri"/>
              <a:cs typeface="Calibri"/>
              <a:sym typeface="Calibri"/>
            </a:endParaRPr>
          </a:p>
        </p:txBody>
      </p:sp>
      <p:cxnSp>
        <p:nvCxnSpPr>
          <p:cNvPr id="305" name="Google Shape;305;p8"/>
          <p:cNvCxnSpPr/>
          <p:nvPr/>
        </p:nvCxnSpPr>
        <p:spPr>
          <a:xfrm>
            <a:off x="6007608" y="2834640"/>
            <a:ext cx="164592" cy="0"/>
          </a:xfrm>
          <a:prstGeom prst="straightConnector1">
            <a:avLst/>
          </a:prstGeom>
          <a:noFill/>
          <a:ln cap="flat" cmpd="sng" w="19050">
            <a:solidFill>
              <a:srgbClr val="F0A500"/>
            </a:solidFill>
            <a:prstDash val="solid"/>
            <a:round/>
            <a:headEnd len="sm" w="sm" type="none"/>
            <a:tailEnd len="sm" w="sm" type="none"/>
          </a:ln>
        </p:spPr>
      </p:cxnSp>
      <p:sp>
        <p:nvSpPr>
          <p:cNvPr id="306" name="Google Shape;306;p8"/>
          <p:cNvSpPr/>
          <p:nvPr/>
        </p:nvSpPr>
        <p:spPr>
          <a:xfrm>
            <a:off x="6172200" y="2560320"/>
            <a:ext cx="1298448" cy="54864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6172200" y="2560320"/>
            <a:ext cx="129844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OUTPUT</a:t>
            </a:r>
            <a:endParaRPr b="0" i="0" sz="1000" u="none" cap="none" strike="noStrike">
              <a:solidFill>
                <a:schemeClr val="dk1"/>
              </a:solidFill>
              <a:latin typeface="Calibri"/>
              <a:ea typeface="Calibri"/>
              <a:cs typeface="Calibri"/>
              <a:sym typeface="Calibri"/>
            </a:endParaRPr>
          </a:p>
        </p:txBody>
      </p:sp>
      <p:cxnSp>
        <p:nvCxnSpPr>
          <p:cNvPr id="308" name="Google Shape;308;p8"/>
          <p:cNvCxnSpPr/>
          <p:nvPr/>
        </p:nvCxnSpPr>
        <p:spPr>
          <a:xfrm>
            <a:off x="7470648" y="2834640"/>
            <a:ext cx="164592" cy="0"/>
          </a:xfrm>
          <a:prstGeom prst="straightConnector1">
            <a:avLst/>
          </a:prstGeom>
          <a:noFill/>
          <a:ln cap="flat" cmpd="sng" w="19050">
            <a:solidFill>
              <a:srgbClr val="F0A500"/>
            </a:solidFill>
            <a:prstDash val="solid"/>
            <a:round/>
            <a:headEnd len="sm" w="sm" type="none"/>
            <a:tailEnd len="sm" w="sm" type="none"/>
          </a:ln>
        </p:spPr>
      </p:cxnSp>
      <p:sp>
        <p:nvSpPr>
          <p:cNvPr id="309" name="Google Shape;309;p8"/>
          <p:cNvSpPr/>
          <p:nvPr/>
        </p:nvSpPr>
        <p:spPr>
          <a:xfrm>
            <a:off x="7635240" y="2560320"/>
            <a:ext cx="1298448" cy="5486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7635240" y="2560320"/>
            <a:ext cx="129844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DONE_ST</a:t>
            </a:r>
            <a:endParaRPr b="0" i="0" sz="1000" u="none" cap="none" strike="noStrike">
              <a:solidFill>
                <a:schemeClr val="dk1"/>
              </a:solidFill>
              <a:latin typeface="Calibri"/>
              <a:ea typeface="Calibri"/>
              <a:cs typeface="Calibri"/>
              <a:sym typeface="Calibri"/>
            </a:endParaRPr>
          </a:p>
        </p:txBody>
      </p:sp>
      <p:sp>
        <p:nvSpPr>
          <p:cNvPr id="311" name="Google Shape;311;p8"/>
          <p:cNvSpPr/>
          <p:nvPr/>
        </p:nvSpPr>
        <p:spPr>
          <a:xfrm>
            <a:off x="320040" y="3291840"/>
            <a:ext cx="8503920" cy="155448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320040" y="3291840"/>
            <a:ext cx="850392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429768" y="3319272"/>
            <a:ext cx="8321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314" name="Google Shape;314;p8"/>
          <p:cNvSpPr/>
          <p:nvPr/>
        </p:nvSpPr>
        <p:spPr>
          <a:xfrm>
            <a:off x="411480" y="3675888"/>
            <a:ext cx="8321040" cy="10972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Triggered by fsm_done pulse; reads RAM addresses 0–31 in sequence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WAIT_RAM state absorbs the 1-cycle registered read latency</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CLASSIFY: runs classify_byte() on all 4 byte lanes of the 32-bit word simultaneously</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OUTPUT: streams 4 results one per cycle via result + result_valid; then advances to next row</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Asserts done for 1 cycle after all 32 rows processed; returns to IDLE</a:t>
            </a:r>
            <a:endParaRPr b="0" i="0" sz="1100" u="none" cap="none" strike="noStrike">
              <a:solidFill>
                <a:schemeClr val="dk1"/>
              </a:solidFill>
              <a:latin typeface="Calibri"/>
              <a:ea typeface="Calibri"/>
              <a:cs typeface="Calibri"/>
              <a:sym typeface="Calibri"/>
            </a:endParaRPr>
          </a:p>
        </p:txBody>
      </p:sp>
      <p:sp>
        <p:nvSpPr>
          <p:cNvPr id="315" name="Google Shape;31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20" name="Shape 320"/>
        <p:cNvGrpSpPr/>
        <p:nvPr/>
      </p:nvGrpSpPr>
      <p:grpSpPr>
        <a:xfrm>
          <a:off x="0" y="0"/>
          <a:ext cx="0" cy="0"/>
          <a:chOff x="0" y="0"/>
          <a:chExt cx="0" cy="0"/>
        </a:xfrm>
      </p:grpSpPr>
      <p:sp>
        <p:nvSpPr>
          <p:cNvPr id="321" name="Google Shape;321;p9"/>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System Integration &amp; Top-Level Testbench</a:t>
            </a:r>
            <a:endParaRPr b="0" i="0" sz="2400" u="none" cap="none" strike="noStrike">
              <a:solidFill>
                <a:schemeClr val="dk1"/>
              </a:solidFill>
              <a:latin typeface="Calibri"/>
              <a:ea typeface="Calibri"/>
              <a:cs typeface="Calibri"/>
              <a:sym typeface="Calibri"/>
            </a:endParaRPr>
          </a:p>
        </p:txBody>
      </p:sp>
      <p:sp>
        <p:nvSpPr>
          <p:cNvPr id="324" name="Google Shape;324;p9"/>
          <p:cNvSpPr/>
          <p:nvPr/>
        </p:nvSpPr>
        <p:spPr>
          <a:xfrm>
            <a:off x="274320" y="868680"/>
            <a:ext cx="4114800" cy="187452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274320" y="868680"/>
            <a:ext cx="411480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384048" y="896112"/>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uart_top.vhd — key design choices</a:t>
            </a:r>
            <a:endParaRPr b="0" i="0" sz="1200" u="none" cap="none" strike="noStrike">
              <a:solidFill>
                <a:schemeClr val="dk1"/>
              </a:solidFill>
              <a:latin typeface="Calibri"/>
              <a:ea typeface="Calibri"/>
              <a:cs typeface="Calibri"/>
              <a:sym typeface="Calibri"/>
            </a:endParaRPr>
          </a:p>
        </p:txBody>
      </p:sp>
      <p:sp>
        <p:nvSpPr>
          <p:cNvPr id="327" name="Google Shape;327;p9"/>
          <p:cNvSpPr/>
          <p:nvPr/>
        </p:nvSpPr>
        <p:spPr>
          <a:xfrm>
            <a:off x="365760" y="1252728"/>
            <a:ext cx="3931920" cy="1417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Phase register: 0=receive, 1=classify; controls RAM addr mux</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TX controller: 3-state FSM drains TX FIFO one byte at a time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TX FIFO (255 deep) absorbs all 128 results while TX runs at 9600 baud</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All modules share one baud_gen tick</a:t>
            </a:r>
            <a:r>
              <a:rPr lang="en-US" sz="1100">
                <a:solidFill>
                  <a:srgbClr val="222222"/>
                </a:solidFill>
                <a:latin typeface="Calibri"/>
                <a:ea typeface="Calibri"/>
                <a:cs typeface="Calibri"/>
                <a:sym typeface="Calibri"/>
              </a:rPr>
              <a:t>, </a:t>
            </a:r>
            <a:r>
              <a:rPr b="0" i="0" lang="en-US" sz="1100" u="none" cap="none" strike="noStrike">
                <a:solidFill>
                  <a:srgbClr val="222222"/>
                </a:solidFill>
                <a:latin typeface="Calibri"/>
                <a:ea typeface="Calibri"/>
                <a:cs typeface="Calibri"/>
                <a:sym typeface="Calibri"/>
              </a:rPr>
              <a:t>no clock domain issues</a:t>
            </a:r>
            <a:endParaRPr b="0" i="0" sz="1100" u="none" cap="none" strike="noStrike">
              <a:solidFill>
                <a:schemeClr val="dk1"/>
              </a:solidFill>
              <a:latin typeface="Calibri"/>
              <a:ea typeface="Calibri"/>
              <a:cs typeface="Calibri"/>
              <a:sym typeface="Calibri"/>
            </a:endParaRPr>
          </a:p>
        </p:txBody>
      </p:sp>
      <p:sp>
        <p:nvSpPr>
          <p:cNvPr id="328" name="Google Shape;328;p9"/>
          <p:cNvSpPr/>
          <p:nvPr/>
        </p:nvSpPr>
        <p:spPr>
          <a:xfrm>
            <a:off x="4663440" y="868680"/>
            <a:ext cx="4114800" cy="1874520"/>
          </a:xfrm>
          <a:prstGeom prst="rect">
            <a:avLst/>
          </a:prstGeom>
          <a:solidFill>
            <a:srgbClr val="FFFFFF"/>
          </a:solidFill>
          <a:ln>
            <a:noFill/>
          </a:ln>
          <a:effectLst>
            <a:outerShdw blurRad="635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4663440" y="868680"/>
            <a:ext cx="4114800" cy="3200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4773168" y="896112"/>
            <a:ext cx="3931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tb_uart_top.vhd — integration testbench</a:t>
            </a:r>
            <a:endParaRPr b="0" i="0" sz="1200" u="none" cap="none" strike="noStrike">
              <a:solidFill>
                <a:schemeClr val="dk1"/>
              </a:solidFill>
              <a:latin typeface="Calibri"/>
              <a:ea typeface="Calibri"/>
              <a:cs typeface="Calibri"/>
              <a:sym typeface="Calibri"/>
            </a:endParaRPr>
          </a:p>
        </p:txBody>
      </p:sp>
      <p:sp>
        <p:nvSpPr>
          <p:cNvPr id="331" name="Google Shape;331;p9"/>
          <p:cNvSpPr/>
          <p:nvPr/>
        </p:nvSpPr>
        <p:spPr>
          <a:xfrm>
            <a:off x="4754880" y="1252728"/>
            <a:ext cx="3931920" cy="1417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Sends 128 bytes: ABcd1234EFgh5678 + 112 null bytes via RX</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Concurrently samples TX line</a:t>
            </a:r>
            <a:r>
              <a:rPr lang="en-US" sz="1100">
                <a:solidFill>
                  <a:srgbClr val="222222"/>
                </a:solidFill>
                <a:latin typeface="Calibri"/>
                <a:ea typeface="Calibri"/>
                <a:cs typeface="Calibri"/>
                <a:sym typeface="Calibri"/>
              </a:rPr>
              <a:t>,</a:t>
            </a:r>
            <a:r>
              <a:rPr b="0" i="0" lang="en-US" sz="1100" u="none" cap="none" strike="noStrike">
                <a:solidFill>
                  <a:srgbClr val="222222"/>
                </a:solidFill>
                <a:latin typeface="Calibri"/>
                <a:ea typeface="Calibri"/>
                <a:cs typeface="Calibri"/>
                <a:sym typeface="Calibri"/>
              </a:rPr>
              <a:t> aligns to center of each bit</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Checks all 128 classification codes byte-by-byte</a:t>
            </a:r>
            <a:endParaRPr b="0" i="0" sz="11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22222"/>
              </a:buClr>
              <a:buSzPts val="1100"/>
              <a:buFont typeface="Calibri"/>
              <a:buChar char="•"/>
            </a:pPr>
            <a:r>
              <a:rPr b="0" i="0" lang="en-US" sz="1100" u="none" cap="none" strike="noStrike">
                <a:solidFill>
                  <a:srgbClr val="222222"/>
                </a:solidFill>
                <a:latin typeface="Calibri"/>
                <a:ea typeface="Calibri"/>
                <a:cs typeface="Calibri"/>
                <a:sym typeface="Calibri"/>
              </a:rPr>
              <a:t>Reports pass/fail summary with hex values per byte</a:t>
            </a:r>
            <a:endParaRPr b="0" i="0" sz="1100" u="none" cap="none" strike="noStrike">
              <a:solidFill>
                <a:schemeClr val="dk1"/>
              </a:solidFill>
              <a:latin typeface="Calibri"/>
              <a:ea typeface="Calibri"/>
              <a:cs typeface="Calibri"/>
              <a:sym typeface="Calibri"/>
            </a:endParaRPr>
          </a:p>
        </p:txBody>
      </p:sp>
      <p:sp>
        <p:nvSpPr>
          <p:cNvPr id="332" name="Google Shape;332;p9"/>
          <p:cNvSpPr/>
          <p:nvPr/>
        </p:nvSpPr>
        <p:spPr>
          <a:xfrm>
            <a:off x="274320" y="2852928"/>
            <a:ext cx="8595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alibri"/>
              <a:buNone/>
            </a:pPr>
            <a:r>
              <a:rPr b="1" i="0" lang="en-US" sz="1100" u="none" cap="none" strike="noStrike">
                <a:solidFill>
                  <a:srgbClr val="1C3A5E"/>
                </a:solidFill>
                <a:latin typeface="Calibri"/>
                <a:ea typeface="Calibri"/>
                <a:cs typeface="Calibri"/>
                <a:sym typeface="Calibri"/>
              </a:rPr>
              <a:t>Expected classification results for typed bytes:</a:t>
            </a:r>
            <a:endParaRPr b="0" i="0" sz="1100" u="none" cap="none" strike="noStrike">
              <a:solidFill>
                <a:schemeClr val="dk1"/>
              </a:solidFill>
              <a:latin typeface="Calibri"/>
              <a:ea typeface="Calibri"/>
              <a:cs typeface="Calibri"/>
              <a:sym typeface="Calibri"/>
            </a:endParaRPr>
          </a:p>
        </p:txBody>
      </p:sp>
      <p:graphicFrame>
        <p:nvGraphicFramePr>
          <p:cNvPr id="333" name="Google Shape;333;p9"/>
          <p:cNvGraphicFramePr/>
          <p:nvPr/>
        </p:nvGraphicFramePr>
        <p:xfrm>
          <a:off x="274320" y="3154680"/>
          <a:ext cx="3000000" cy="3000000"/>
        </p:xfrm>
        <a:graphic>
          <a:graphicData uri="http://schemas.openxmlformats.org/drawingml/2006/table">
            <a:tbl>
              <a:tblPr>
                <a:noFill/>
                <a:tableStyleId>{409B34EC-566C-4AF8-BD85-23192EB1CD9E}</a:tableStyleId>
              </a:tblPr>
              <a:tblGrid>
                <a:gridCol w="1463050"/>
                <a:gridCol w="2286000"/>
                <a:gridCol w="2286000"/>
                <a:gridCol w="2560325"/>
              </a:tblGrid>
              <a:tr h="2171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Char</a:t>
                      </a:r>
                      <a:endParaRPr sz="12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3A5E"/>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Hex in</a:t>
                      </a:r>
                      <a:endParaRPr sz="12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3A5E"/>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Expected out</a:t>
                      </a:r>
                      <a:endParaRPr sz="12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3A5E"/>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Class</a:t>
                      </a:r>
                      <a:endParaRPr sz="12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3A5E"/>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A  B</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0x41  0x42</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0x01  0x01</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Uppercase</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c  d</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0x63  0x64</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0x02  0x02</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Lowercase</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1  2  3  4</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0x31–0x34</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0x03 ×4</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Digit</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E  F</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0x45  0x46</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0x01  0x01</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Uppercase</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g  h</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0x67  0x68</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0x02  0x02</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Lowercase</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5  6  7  8</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0x35–0x38</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0x03 ×4</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Digit</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171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null ×112</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0x00 ×112</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0x00 ×112</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Other</a:t>
                      </a:r>
                      <a:endParaRPr sz="1000" u="none" cap="none" strike="noStrike">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AF0F8"/>
                    </a:solidFill>
                  </a:tcPr>
                </a:tc>
              </a:tr>
            </a:tbl>
          </a:graphicData>
        </a:graphic>
      </p:graphicFrame>
      <p:sp>
        <p:nvSpPr>
          <p:cNvPr id="334" name="Google Shape;334;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39" name="Shape 339"/>
        <p:cNvGrpSpPr/>
        <p:nvPr/>
      </p:nvGrpSpPr>
      <p:grpSpPr>
        <a:xfrm>
          <a:off x="0" y="0"/>
          <a:ext cx="0" cy="0"/>
          <a:chOff x="0" y="0"/>
          <a:chExt cx="0" cy="0"/>
        </a:xfrm>
      </p:grpSpPr>
      <p:sp>
        <p:nvSpPr>
          <p:cNvPr id="340" name="Google Shape;340;p10"/>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0"/>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Challenges &amp; Solutions</a:t>
            </a:r>
            <a:endParaRPr b="0" i="0" sz="2400" u="none" cap="none" strike="noStrike">
              <a:solidFill>
                <a:schemeClr val="dk1"/>
              </a:solidFill>
              <a:latin typeface="Calibri"/>
              <a:ea typeface="Calibri"/>
              <a:cs typeface="Calibri"/>
              <a:sym typeface="Calibri"/>
            </a:endParaRPr>
          </a:p>
        </p:txBody>
      </p:sp>
      <p:sp>
        <p:nvSpPr>
          <p:cNvPr id="343" name="Google Shape;343;p10"/>
          <p:cNvSpPr/>
          <p:nvPr/>
        </p:nvSpPr>
        <p:spPr>
          <a:xfrm>
            <a:off x="274320" y="868680"/>
            <a:ext cx="4160520" cy="1920240"/>
          </a:xfrm>
          <a:prstGeom prst="rect">
            <a:avLst/>
          </a:prstGeom>
          <a:solidFill>
            <a:srgbClr val="FFFFFF"/>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0"/>
          <p:cNvSpPr/>
          <p:nvPr/>
        </p:nvSpPr>
        <p:spPr>
          <a:xfrm>
            <a:off x="274320" y="868680"/>
            <a:ext cx="73152" cy="192024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438912" y="978408"/>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i="0" lang="en-US" sz="1300" u="none" cap="none" strike="noStrike">
                <a:solidFill>
                  <a:srgbClr val="1C3A5E"/>
                </a:solidFill>
                <a:latin typeface="Calibri"/>
                <a:ea typeface="Calibri"/>
                <a:cs typeface="Calibri"/>
                <a:sym typeface="Calibri"/>
              </a:rPr>
              <a:t>FIFO Full/Empty Ambiguity</a:t>
            </a:r>
            <a:endParaRPr b="0" i="0" sz="1300" u="none" cap="none" strike="noStrike">
              <a:solidFill>
                <a:schemeClr val="dk1"/>
              </a:solidFill>
              <a:latin typeface="Calibri"/>
              <a:ea typeface="Calibri"/>
              <a:cs typeface="Calibri"/>
              <a:sym typeface="Calibri"/>
            </a:endParaRPr>
          </a:p>
        </p:txBody>
      </p:sp>
      <p:sp>
        <p:nvSpPr>
          <p:cNvPr id="346" name="Google Shape;346;p10"/>
          <p:cNvSpPr/>
          <p:nvPr/>
        </p:nvSpPr>
        <p:spPr>
          <a:xfrm>
            <a:off x="438912" y="1371600"/>
            <a:ext cx="3886200"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US" sz="1100" u="none" cap="none" strike="noStrike">
                <a:solidFill>
                  <a:srgbClr val="333333"/>
                </a:solidFill>
                <a:latin typeface="Calibri"/>
                <a:ea typeface="Calibri"/>
                <a:cs typeface="Calibri"/>
                <a:sym typeface="Calibri"/>
              </a:rPr>
              <a:t>Both states result in w_ptr = r_ptr. Solution: reserve one slot full when ptr_inc(w_ptr) = r_ptr, empty when w_ptr = r_ptr.</a:t>
            </a:r>
            <a:endParaRPr b="0" i="0" sz="1100" u="none" cap="none" strike="noStrike">
              <a:solidFill>
                <a:schemeClr val="dk1"/>
              </a:solidFill>
              <a:latin typeface="Calibri"/>
              <a:ea typeface="Calibri"/>
              <a:cs typeface="Calibri"/>
              <a:sym typeface="Calibri"/>
            </a:endParaRPr>
          </a:p>
        </p:txBody>
      </p:sp>
      <p:sp>
        <p:nvSpPr>
          <p:cNvPr id="347" name="Google Shape;347;p10"/>
          <p:cNvSpPr/>
          <p:nvPr/>
        </p:nvSpPr>
        <p:spPr>
          <a:xfrm>
            <a:off x="4709160" y="868680"/>
            <a:ext cx="4160520" cy="1920240"/>
          </a:xfrm>
          <a:prstGeom prst="rect">
            <a:avLst/>
          </a:prstGeom>
          <a:solidFill>
            <a:srgbClr val="FFFFFF"/>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a:off x="4709160" y="868680"/>
            <a:ext cx="73152" cy="192024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a:off x="4873752" y="978408"/>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i="0" lang="en-US" sz="1300" u="none" cap="none" strike="noStrike">
                <a:solidFill>
                  <a:srgbClr val="1C3A5E"/>
                </a:solidFill>
                <a:latin typeface="Calibri"/>
                <a:ea typeface="Calibri"/>
                <a:cs typeface="Calibri"/>
                <a:sym typeface="Calibri"/>
              </a:rPr>
              <a:t>FIFO Read Latency in FSM</a:t>
            </a:r>
            <a:endParaRPr b="0" i="0" sz="1300" u="none" cap="none" strike="noStrike">
              <a:solidFill>
                <a:schemeClr val="dk1"/>
              </a:solidFill>
              <a:latin typeface="Calibri"/>
              <a:ea typeface="Calibri"/>
              <a:cs typeface="Calibri"/>
              <a:sym typeface="Calibri"/>
            </a:endParaRPr>
          </a:p>
        </p:txBody>
      </p:sp>
      <p:sp>
        <p:nvSpPr>
          <p:cNvPr id="350" name="Google Shape;350;p10"/>
          <p:cNvSpPr/>
          <p:nvPr/>
        </p:nvSpPr>
        <p:spPr>
          <a:xfrm>
            <a:off x="4873752" y="1371600"/>
            <a:ext cx="3886200"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US" sz="1100" u="none" cap="none" strike="noStrike">
                <a:solidFill>
                  <a:srgbClr val="333333"/>
                </a:solidFill>
                <a:latin typeface="Calibri"/>
                <a:ea typeface="Calibri"/>
                <a:cs typeface="Calibri"/>
                <a:sym typeface="Calibri"/>
              </a:rPr>
              <a:t>fifo_dout changes one cycle after fifo_rd pulses. FSM latches the byte into byte_buf in READ_BYTE before advancing pointer, then packs from byte_buf in PACK.</a:t>
            </a:r>
            <a:endParaRPr b="0" i="0" sz="1100" u="none" cap="none" strike="noStrike">
              <a:solidFill>
                <a:schemeClr val="dk1"/>
              </a:solidFill>
              <a:latin typeface="Calibri"/>
              <a:ea typeface="Calibri"/>
              <a:cs typeface="Calibri"/>
              <a:sym typeface="Calibri"/>
            </a:endParaRPr>
          </a:p>
        </p:txBody>
      </p:sp>
      <p:sp>
        <p:nvSpPr>
          <p:cNvPr id="351" name="Google Shape;351;p10"/>
          <p:cNvSpPr/>
          <p:nvPr/>
        </p:nvSpPr>
        <p:spPr>
          <a:xfrm>
            <a:off x="274320" y="2926080"/>
            <a:ext cx="4160520" cy="1920240"/>
          </a:xfrm>
          <a:prstGeom prst="rect">
            <a:avLst/>
          </a:prstGeom>
          <a:solidFill>
            <a:srgbClr val="FFFFFF"/>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0"/>
          <p:cNvSpPr/>
          <p:nvPr/>
        </p:nvSpPr>
        <p:spPr>
          <a:xfrm>
            <a:off x="274320" y="2926080"/>
            <a:ext cx="73152" cy="192024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a:off x="438912" y="3035808"/>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i="0" lang="en-US" sz="1300" u="none" cap="none" strike="noStrike">
                <a:solidFill>
                  <a:srgbClr val="1C3A5E"/>
                </a:solidFill>
                <a:latin typeface="Calibri"/>
                <a:ea typeface="Calibri"/>
                <a:cs typeface="Calibri"/>
                <a:sym typeface="Calibri"/>
              </a:rPr>
              <a:t>RAM Address Mux</a:t>
            </a:r>
            <a:endParaRPr b="0" i="0" sz="1300" u="none" cap="none" strike="noStrike">
              <a:solidFill>
                <a:schemeClr val="dk1"/>
              </a:solidFill>
              <a:latin typeface="Calibri"/>
              <a:ea typeface="Calibri"/>
              <a:cs typeface="Calibri"/>
              <a:sym typeface="Calibri"/>
            </a:endParaRPr>
          </a:p>
        </p:txBody>
      </p:sp>
      <p:sp>
        <p:nvSpPr>
          <p:cNvPr id="354" name="Google Shape;354;p10"/>
          <p:cNvSpPr/>
          <p:nvPr/>
        </p:nvSpPr>
        <p:spPr>
          <a:xfrm>
            <a:off x="438912" y="3429000"/>
            <a:ext cx="3886200"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US" sz="1100" u="none" cap="none" strike="noStrike">
                <a:solidFill>
                  <a:srgbClr val="333333"/>
                </a:solidFill>
                <a:latin typeface="Calibri"/>
                <a:ea typeface="Calibri"/>
                <a:cs typeface="Calibri"/>
                <a:sym typeface="Calibri"/>
              </a:rPr>
              <a:t>FSM (write) and classifier (read) both need RAM addr. Solution: phase register switches ownership after fsm_done/ce_done clean and transparent to both modules.</a:t>
            </a:r>
            <a:endParaRPr b="0" i="0" sz="1100" u="none" cap="none" strike="noStrike">
              <a:solidFill>
                <a:schemeClr val="dk1"/>
              </a:solidFill>
              <a:latin typeface="Calibri"/>
              <a:ea typeface="Calibri"/>
              <a:cs typeface="Calibri"/>
              <a:sym typeface="Calibri"/>
            </a:endParaRPr>
          </a:p>
        </p:txBody>
      </p:sp>
      <p:sp>
        <p:nvSpPr>
          <p:cNvPr id="355" name="Google Shape;355;p10"/>
          <p:cNvSpPr/>
          <p:nvPr/>
        </p:nvSpPr>
        <p:spPr>
          <a:xfrm>
            <a:off x="4709160" y="2926080"/>
            <a:ext cx="4160520" cy="1920240"/>
          </a:xfrm>
          <a:prstGeom prst="rect">
            <a:avLst/>
          </a:prstGeom>
          <a:solidFill>
            <a:srgbClr val="FFFFFF"/>
          </a:solidFill>
          <a:ln>
            <a:noFill/>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0"/>
          <p:cNvSpPr/>
          <p:nvPr/>
        </p:nvSpPr>
        <p:spPr>
          <a:xfrm>
            <a:off x="4709160" y="2926080"/>
            <a:ext cx="73152" cy="192024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p:nvPr/>
        </p:nvSpPr>
        <p:spPr>
          <a:xfrm>
            <a:off x="4873752" y="3035808"/>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i="0" lang="en-US" sz="1300" u="none" cap="none" strike="noStrike">
                <a:solidFill>
                  <a:srgbClr val="1C3A5E"/>
                </a:solidFill>
                <a:latin typeface="Calibri"/>
                <a:ea typeface="Calibri"/>
                <a:cs typeface="Calibri"/>
                <a:sym typeface="Calibri"/>
              </a:rPr>
              <a:t>TX FIFO Depth</a:t>
            </a:r>
            <a:endParaRPr b="0" i="0" sz="1300" u="none" cap="none" strike="noStrike">
              <a:solidFill>
                <a:schemeClr val="dk1"/>
              </a:solidFill>
              <a:latin typeface="Calibri"/>
              <a:ea typeface="Calibri"/>
              <a:cs typeface="Calibri"/>
              <a:sym typeface="Calibri"/>
            </a:endParaRPr>
          </a:p>
        </p:txBody>
      </p:sp>
      <p:sp>
        <p:nvSpPr>
          <p:cNvPr id="358" name="Google Shape;358;p10"/>
          <p:cNvSpPr/>
          <p:nvPr/>
        </p:nvSpPr>
        <p:spPr>
          <a:xfrm>
            <a:off x="4873752" y="3429000"/>
            <a:ext cx="3886200" cy="1325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US" sz="1100" u="none" cap="none" strike="noStrike">
                <a:solidFill>
                  <a:srgbClr val="333333"/>
                </a:solidFill>
                <a:latin typeface="Calibri"/>
                <a:ea typeface="Calibri"/>
                <a:cs typeface="Calibri"/>
                <a:sym typeface="Calibri"/>
              </a:rPr>
              <a:t>Classifier produces 128 results faster than 9600-baud TX can drain them. TX FIFO sized to 255 entries (ADDR_W=8) to buffer all results in one shot.</a:t>
            </a:r>
            <a:endParaRPr b="0" i="0" sz="1100" u="none" cap="none" strike="noStrike">
              <a:solidFill>
                <a:schemeClr val="dk1"/>
              </a:solidFill>
              <a:latin typeface="Calibri"/>
              <a:ea typeface="Calibri"/>
              <a:cs typeface="Calibri"/>
              <a:sym typeface="Calibri"/>
            </a:endParaRPr>
          </a:p>
        </p:txBody>
      </p:sp>
      <p:sp>
        <p:nvSpPr>
          <p:cNvPr id="359" name="Google Shape;359;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64" name="Shape 364"/>
        <p:cNvGrpSpPr/>
        <p:nvPr/>
      </p:nvGrpSpPr>
      <p:grpSpPr>
        <a:xfrm>
          <a:off x="0" y="0"/>
          <a:ext cx="0" cy="0"/>
          <a:chOff x="0" y="0"/>
          <a:chExt cx="0" cy="0"/>
        </a:xfrm>
      </p:grpSpPr>
      <p:sp>
        <p:nvSpPr>
          <p:cNvPr id="365" name="Google Shape;365;g3da81cd2732_0_15"/>
          <p:cNvSpPr/>
          <p:nvPr/>
        </p:nvSpPr>
        <p:spPr>
          <a:xfrm>
            <a:off x="0" y="0"/>
            <a:ext cx="9144000" cy="71310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a81cd2732_0_15"/>
          <p:cNvSpPr/>
          <p:nvPr/>
        </p:nvSpPr>
        <p:spPr>
          <a:xfrm>
            <a:off x="0" y="713232"/>
            <a:ext cx="9144000" cy="5040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da81cd2732_0_15"/>
          <p:cNvSpPr/>
          <p:nvPr/>
        </p:nvSpPr>
        <p:spPr>
          <a:xfrm>
            <a:off x="274320" y="73152"/>
            <a:ext cx="85953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Challenges &amp; Solutions</a:t>
            </a:r>
            <a:endParaRPr b="0" i="0" sz="2400" u="none" cap="none" strike="noStrike">
              <a:solidFill>
                <a:schemeClr val="dk1"/>
              </a:solidFill>
              <a:latin typeface="Calibri"/>
              <a:ea typeface="Calibri"/>
              <a:cs typeface="Calibri"/>
              <a:sym typeface="Calibri"/>
            </a:endParaRPr>
          </a:p>
        </p:txBody>
      </p:sp>
      <p:sp>
        <p:nvSpPr>
          <p:cNvPr id="368" name="Google Shape;368;g3da81cd2732_0_15"/>
          <p:cNvSpPr/>
          <p:nvPr/>
        </p:nvSpPr>
        <p:spPr>
          <a:xfrm>
            <a:off x="274320" y="868680"/>
            <a:ext cx="4160400" cy="1920300"/>
          </a:xfrm>
          <a:prstGeom prst="rect">
            <a:avLst/>
          </a:prstGeom>
          <a:solidFill>
            <a:srgbClr val="FFFFFF"/>
          </a:solidFill>
          <a:ln>
            <a:noFill/>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3da81cd2732_0_15"/>
          <p:cNvSpPr/>
          <p:nvPr/>
        </p:nvSpPr>
        <p:spPr>
          <a:xfrm>
            <a:off x="274320" y="868680"/>
            <a:ext cx="73200" cy="192030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da81cd2732_0_15"/>
          <p:cNvSpPr/>
          <p:nvPr/>
        </p:nvSpPr>
        <p:spPr>
          <a:xfrm>
            <a:off x="438912" y="809396"/>
            <a:ext cx="38862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lang="en-US" sz="1300">
                <a:solidFill>
                  <a:srgbClr val="1C3A5E"/>
                </a:solidFill>
                <a:latin typeface="Calibri"/>
                <a:ea typeface="Calibri"/>
                <a:cs typeface="Calibri"/>
                <a:sym typeface="Calibri"/>
              </a:rPr>
              <a:t>Clock </a:t>
            </a:r>
            <a:r>
              <a:rPr b="1" lang="en-US" sz="1300">
                <a:solidFill>
                  <a:srgbClr val="1C3A5E"/>
                </a:solidFill>
                <a:latin typeface="Calibri"/>
                <a:ea typeface="Calibri"/>
                <a:cs typeface="Calibri"/>
                <a:sym typeface="Calibri"/>
              </a:rPr>
              <a:t>Dependency</a:t>
            </a:r>
            <a:r>
              <a:rPr b="1" lang="en-US" sz="1300">
                <a:solidFill>
                  <a:srgbClr val="1C3A5E"/>
                </a:solidFill>
                <a:latin typeface="Calibri"/>
                <a:ea typeface="Calibri"/>
                <a:cs typeface="Calibri"/>
                <a:sym typeface="Calibri"/>
              </a:rPr>
              <a:t> in Synchronous RAM</a:t>
            </a:r>
            <a:endParaRPr b="0" i="0" sz="1300" u="none" cap="none" strike="noStrike">
              <a:solidFill>
                <a:schemeClr val="dk1"/>
              </a:solidFill>
              <a:latin typeface="Calibri"/>
              <a:ea typeface="Calibri"/>
              <a:cs typeface="Calibri"/>
              <a:sym typeface="Calibri"/>
            </a:endParaRPr>
          </a:p>
        </p:txBody>
      </p:sp>
      <p:sp>
        <p:nvSpPr>
          <p:cNvPr id="371" name="Google Shape;371;g3da81cd2732_0_15"/>
          <p:cNvSpPr/>
          <p:nvPr/>
        </p:nvSpPr>
        <p:spPr>
          <a:xfrm>
            <a:off x="438900" y="1057787"/>
            <a:ext cx="3886200" cy="179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chemeClr val="dk1"/>
                </a:solidFill>
                <a:latin typeface="Calibri"/>
                <a:ea typeface="Calibri"/>
                <a:cs typeface="Calibri"/>
                <a:sym typeface="Calibri"/>
              </a:rPr>
              <a:t>During RAM verification, the output (dout) remained undefined (U) despite valid input signals (we, din, addr). This issue was traced back to the absence of a proper clock signal in the testbench. Since the RAM uses synchronous read/write operations, no data transfers without a clock edge. The problem was resolved by implementing a clock generation process in the testbench, which introduces periodic rising edges and enabled correct write and read behavior. After this fix, the output updated as expected, confirming proper functionality of RAM module.</a:t>
            </a:r>
            <a:endParaRPr b="0" i="0" sz="1100" u="none" cap="none" strike="noStrike">
              <a:solidFill>
                <a:schemeClr val="dk1"/>
              </a:solidFill>
              <a:latin typeface="Calibri"/>
              <a:ea typeface="Calibri"/>
              <a:cs typeface="Calibri"/>
              <a:sym typeface="Calibri"/>
            </a:endParaRPr>
          </a:p>
        </p:txBody>
      </p:sp>
      <p:sp>
        <p:nvSpPr>
          <p:cNvPr id="372" name="Google Shape;372;g3da81cd2732_0_15"/>
          <p:cNvSpPr/>
          <p:nvPr/>
        </p:nvSpPr>
        <p:spPr>
          <a:xfrm>
            <a:off x="4709160" y="868680"/>
            <a:ext cx="4160400" cy="1920300"/>
          </a:xfrm>
          <a:prstGeom prst="rect">
            <a:avLst/>
          </a:prstGeom>
          <a:solidFill>
            <a:srgbClr val="FFFFFF"/>
          </a:solidFill>
          <a:ln>
            <a:noFill/>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da81cd2732_0_15"/>
          <p:cNvSpPr/>
          <p:nvPr/>
        </p:nvSpPr>
        <p:spPr>
          <a:xfrm>
            <a:off x="4709160" y="868680"/>
            <a:ext cx="73200" cy="192030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da81cd2732_0_15"/>
          <p:cNvSpPr/>
          <p:nvPr/>
        </p:nvSpPr>
        <p:spPr>
          <a:xfrm>
            <a:off x="4873752" y="893921"/>
            <a:ext cx="38862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lang="en-US" sz="1300">
                <a:solidFill>
                  <a:srgbClr val="1C3A5E"/>
                </a:solidFill>
                <a:latin typeface="Calibri"/>
                <a:ea typeface="Calibri"/>
                <a:cs typeface="Calibri"/>
                <a:sym typeface="Calibri"/>
              </a:rPr>
              <a:t>Testbench Inconsistency Across Modules </a:t>
            </a:r>
            <a:endParaRPr b="0" i="0" sz="1300" u="none" cap="none" strike="noStrike">
              <a:solidFill>
                <a:schemeClr val="dk1"/>
              </a:solidFill>
              <a:latin typeface="Calibri"/>
              <a:ea typeface="Calibri"/>
              <a:cs typeface="Calibri"/>
              <a:sym typeface="Calibri"/>
            </a:endParaRPr>
          </a:p>
        </p:txBody>
      </p:sp>
      <p:sp>
        <p:nvSpPr>
          <p:cNvPr id="375" name="Google Shape;375;g3da81cd2732_0_15"/>
          <p:cNvSpPr/>
          <p:nvPr/>
        </p:nvSpPr>
        <p:spPr>
          <a:xfrm>
            <a:off x="4873752" y="1241325"/>
            <a:ext cx="3886200" cy="132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A testbench that initially ran correctly for one module failed when reused or adapted for other modules during integration. This was due to mismatches in signal timing, initialization, and stimulus assumptions between modules. The issue was resolved by standardizing testbench structure, carefully aligning timing (e.g., clock/reset behavior and control pulses), and verifying each </a:t>
            </a:r>
            <a:r>
              <a:rPr lang="en-US" sz="1100">
                <a:solidFill>
                  <a:srgbClr val="333333"/>
                </a:solidFill>
                <a:latin typeface="Calibri"/>
                <a:ea typeface="Calibri"/>
                <a:cs typeface="Calibri"/>
                <a:sym typeface="Calibri"/>
              </a:rPr>
              <a:t>module</a:t>
            </a:r>
            <a:r>
              <a:rPr lang="en-US" sz="1100">
                <a:solidFill>
                  <a:srgbClr val="333333"/>
                </a:solidFill>
                <a:latin typeface="Calibri"/>
                <a:ea typeface="Calibri"/>
                <a:cs typeface="Calibri"/>
                <a:sym typeface="Calibri"/>
              </a:rPr>
              <a:t> interface requirements before integration. </a:t>
            </a:r>
            <a:endParaRPr b="0" i="0" sz="1100" u="none" cap="none" strike="noStrike">
              <a:solidFill>
                <a:schemeClr val="dk1"/>
              </a:solidFill>
              <a:latin typeface="Calibri"/>
              <a:ea typeface="Calibri"/>
              <a:cs typeface="Calibri"/>
              <a:sym typeface="Calibri"/>
            </a:endParaRPr>
          </a:p>
        </p:txBody>
      </p:sp>
      <p:sp>
        <p:nvSpPr>
          <p:cNvPr id="376" name="Google Shape;376;g3da81cd2732_0_15"/>
          <p:cNvSpPr/>
          <p:nvPr/>
        </p:nvSpPr>
        <p:spPr>
          <a:xfrm>
            <a:off x="274320" y="2926080"/>
            <a:ext cx="4160400" cy="1920300"/>
          </a:xfrm>
          <a:prstGeom prst="rect">
            <a:avLst/>
          </a:prstGeom>
          <a:solidFill>
            <a:srgbClr val="FFFFFF"/>
          </a:solidFill>
          <a:ln>
            <a:noFill/>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3da81cd2732_0_15"/>
          <p:cNvSpPr/>
          <p:nvPr/>
        </p:nvSpPr>
        <p:spPr>
          <a:xfrm>
            <a:off x="274320" y="2926080"/>
            <a:ext cx="73200" cy="192030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da81cd2732_0_15"/>
          <p:cNvSpPr/>
          <p:nvPr/>
        </p:nvSpPr>
        <p:spPr>
          <a:xfrm>
            <a:off x="438912" y="2966696"/>
            <a:ext cx="38862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lang="en-US" sz="1300">
                <a:solidFill>
                  <a:srgbClr val="1C3A5E"/>
                </a:solidFill>
                <a:latin typeface="Calibri"/>
                <a:ea typeface="Calibri"/>
                <a:cs typeface="Calibri"/>
                <a:sym typeface="Calibri"/>
              </a:rPr>
              <a:t>One Cycle Read Latency in RAM</a:t>
            </a:r>
            <a:endParaRPr b="0" i="0" sz="1300" u="none" cap="none" strike="noStrike">
              <a:solidFill>
                <a:schemeClr val="dk1"/>
              </a:solidFill>
              <a:latin typeface="Calibri"/>
              <a:ea typeface="Calibri"/>
              <a:cs typeface="Calibri"/>
              <a:sym typeface="Calibri"/>
            </a:endParaRPr>
          </a:p>
        </p:txBody>
      </p:sp>
      <p:sp>
        <p:nvSpPr>
          <p:cNvPr id="379" name="Google Shape;379;g3da81cd2732_0_15"/>
          <p:cNvSpPr/>
          <p:nvPr/>
        </p:nvSpPr>
        <p:spPr>
          <a:xfrm>
            <a:off x="438912" y="3242100"/>
            <a:ext cx="3886200" cy="132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rgbClr val="333333"/>
                </a:solidFill>
                <a:latin typeface="Calibri"/>
                <a:ea typeface="Calibri"/>
                <a:cs typeface="Calibri"/>
                <a:sym typeface="Calibri"/>
              </a:rPr>
              <a:t>While testing the RAM module, it initially </a:t>
            </a:r>
            <a:r>
              <a:rPr lang="en-US" sz="1100">
                <a:solidFill>
                  <a:srgbClr val="333333"/>
                </a:solidFill>
                <a:latin typeface="Calibri"/>
                <a:ea typeface="Calibri"/>
                <a:cs typeface="Calibri"/>
                <a:sym typeface="Calibri"/>
              </a:rPr>
              <a:t>appear</a:t>
            </a:r>
            <a:r>
              <a:rPr lang="en-US" sz="1100">
                <a:solidFill>
                  <a:srgbClr val="333333"/>
                </a:solidFill>
                <a:latin typeface="Calibri"/>
                <a:ea typeface="Calibri"/>
                <a:cs typeface="Calibri"/>
                <a:sym typeface="Calibri"/>
              </a:rPr>
              <a:t> that the output (dout) was incorrect because it did not immediately reflect the newly written data. Instead, the output showed the previous value during the same clock cycle as the write operation. This behavior  was identified as expected due to the synchronous read design, where data is only available one clock cycle after being written. By analyzing the waveform across </a:t>
            </a:r>
            <a:r>
              <a:rPr lang="en-US" sz="1100">
                <a:solidFill>
                  <a:srgbClr val="333333"/>
                </a:solidFill>
                <a:latin typeface="Calibri"/>
                <a:ea typeface="Calibri"/>
                <a:cs typeface="Calibri"/>
                <a:sym typeface="Calibri"/>
              </a:rPr>
              <a:t>multiple</a:t>
            </a:r>
            <a:r>
              <a:rPr lang="en-US" sz="1100">
                <a:solidFill>
                  <a:srgbClr val="333333"/>
                </a:solidFill>
                <a:latin typeface="Calibri"/>
                <a:ea typeface="Calibri"/>
                <a:cs typeface="Calibri"/>
                <a:sym typeface="Calibri"/>
              </a:rPr>
              <a:t> clock cycles, the correct timing </a:t>
            </a:r>
            <a:r>
              <a:rPr lang="en-US" sz="1100">
                <a:solidFill>
                  <a:srgbClr val="333333"/>
                </a:solidFill>
                <a:latin typeface="Calibri"/>
                <a:ea typeface="Calibri"/>
                <a:cs typeface="Calibri"/>
                <a:sym typeface="Calibri"/>
              </a:rPr>
              <a:t>relationship</a:t>
            </a:r>
            <a:r>
              <a:rPr lang="en-US" sz="1100">
                <a:solidFill>
                  <a:srgbClr val="333333"/>
                </a:solidFill>
                <a:latin typeface="Calibri"/>
                <a:ea typeface="Calibri"/>
                <a:cs typeface="Calibri"/>
                <a:sym typeface="Calibri"/>
              </a:rPr>
              <a:t> was confirmed, verifying that the RAM module was </a:t>
            </a:r>
            <a:r>
              <a:rPr lang="en-US" sz="1100">
                <a:solidFill>
                  <a:srgbClr val="333333"/>
                </a:solidFill>
                <a:latin typeface="Calibri"/>
                <a:ea typeface="Calibri"/>
                <a:cs typeface="Calibri"/>
                <a:sym typeface="Calibri"/>
              </a:rPr>
              <a:t>functioning</a:t>
            </a:r>
            <a:r>
              <a:rPr lang="en-US" sz="1100">
                <a:solidFill>
                  <a:srgbClr val="333333"/>
                </a:solidFill>
                <a:latin typeface="Calibri"/>
                <a:ea typeface="Calibri"/>
                <a:cs typeface="Calibri"/>
                <a:sym typeface="Calibri"/>
              </a:rPr>
              <a:t> as intended.</a:t>
            </a:r>
            <a:endParaRPr b="0" i="0" sz="1100" u="none" cap="none" strike="noStrike">
              <a:solidFill>
                <a:schemeClr val="dk1"/>
              </a:solidFill>
              <a:latin typeface="Calibri"/>
              <a:ea typeface="Calibri"/>
              <a:cs typeface="Calibri"/>
              <a:sym typeface="Calibri"/>
            </a:endParaRPr>
          </a:p>
        </p:txBody>
      </p:sp>
      <p:sp>
        <p:nvSpPr>
          <p:cNvPr id="380" name="Google Shape;380;g3da81cd2732_0_15"/>
          <p:cNvSpPr/>
          <p:nvPr/>
        </p:nvSpPr>
        <p:spPr>
          <a:xfrm>
            <a:off x="4709160" y="2926080"/>
            <a:ext cx="4160400" cy="1920300"/>
          </a:xfrm>
          <a:prstGeom prst="rect">
            <a:avLst/>
          </a:prstGeom>
          <a:solidFill>
            <a:srgbClr val="FFFFFF"/>
          </a:solidFill>
          <a:ln>
            <a:noFill/>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da81cd2732_0_15"/>
          <p:cNvSpPr/>
          <p:nvPr/>
        </p:nvSpPr>
        <p:spPr>
          <a:xfrm>
            <a:off x="4709160" y="2926080"/>
            <a:ext cx="73200" cy="1920300"/>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da81cd2732_0_15"/>
          <p:cNvSpPr/>
          <p:nvPr/>
        </p:nvSpPr>
        <p:spPr>
          <a:xfrm>
            <a:off x="4873752" y="2944558"/>
            <a:ext cx="38862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300"/>
              <a:buFont typeface="Calibri"/>
              <a:buNone/>
            </a:pPr>
            <a:r>
              <a:rPr b="1" lang="en-US" sz="1300">
                <a:solidFill>
                  <a:srgbClr val="1C3A5E"/>
                </a:solidFill>
                <a:latin typeface="Calibri"/>
                <a:ea typeface="Calibri"/>
                <a:cs typeface="Calibri"/>
                <a:sym typeface="Calibri"/>
              </a:rPr>
              <a:t>AI Tool Usage</a:t>
            </a:r>
            <a:endParaRPr b="0" i="0" sz="1300" u="none" cap="none" strike="noStrike">
              <a:solidFill>
                <a:schemeClr val="dk1"/>
              </a:solidFill>
              <a:latin typeface="Calibri"/>
              <a:ea typeface="Calibri"/>
              <a:cs typeface="Calibri"/>
              <a:sym typeface="Calibri"/>
            </a:endParaRPr>
          </a:p>
        </p:txBody>
      </p:sp>
      <p:sp>
        <p:nvSpPr>
          <p:cNvPr id="383" name="Google Shape;383;g3da81cd2732_0_15"/>
          <p:cNvSpPr/>
          <p:nvPr/>
        </p:nvSpPr>
        <p:spPr>
          <a:xfrm>
            <a:off x="4873752" y="3291950"/>
            <a:ext cx="3886200" cy="132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US" sz="1100">
                <a:solidFill>
                  <a:schemeClr val="dk1"/>
                </a:solidFill>
                <a:latin typeface="Calibri"/>
                <a:ea typeface="Calibri"/>
                <a:cs typeface="Calibri"/>
                <a:sym typeface="Calibri"/>
              </a:rPr>
              <a:t>Helped identify a subtle timing issue in the FSM, specifically that fifo_dout would already reflect the next byte by the time the PACK state executed, which led to the byte_buf latching fix in READ_BYTE. Second, it was used to draft and maintain INTERFACE_AGREEMENT.md, which served as the team's shared reference for port names, signal widths, and active levels across all modules. Third, it was used to review VHDL modules and testbenches for correctness and consistency.</a:t>
            </a:r>
            <a:endParaRPr b="0" i="0" sz="1100" u="none" cap="none" strike="noStrike">
              <a:solidFill>
                <a:schemeClr val="dk1"/>
              </a:solidFill>
              <a:latin typeface="Calibri"/>
              <a:ea typeface="Calibri"/>
              <a:cs typeface="Calibri"/>
              <a:sym typeface="Calibri"/>
            </a:endParaRPr>
          </a:p>
        </p:txBody>
      </p:sp>
      <p:sp>
        <p:nvSpPr>
          <p:cNvPr id="384" name="Google Shape;384;g3da81cd2732_0_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89" name="Shape 389"/>
        <p:cNvGrpSpPr/>
        <p:nvPr/>
      </p:nvGrpSpPr>
      <p:grpSpPr>
        <a:xfrm>
          <a:off x="0" y="0"/>
          <a:ext cx="0" cy="0"/>
          <a:chOff x="0" y="0"/>
          <a:chExt cx="0" cy="0"/>
        </a:xfrm>
      </p:grpSpPr>
      <p:sp>
        <p:nvSpPr>
          <p:cNvPr id="390" name="Google Shape;390;p11"/>
          <p:cNvSpPr/>
          <p:nvPr/>
        </p:nvSpPr>
        <p:spPr>
          <a:xfrm>
            <a:off x="0" y="0"/>
            <a:ext cx="9144000" cy="713232"/>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
          <p:cNvSpPr/>
          <p:nvPr/>
        </p:nvSpPr>
        <p:spPr>
          <a:xfrm>
            <a:off x="0" y="713232"/>
            <a:ext cx="9144000" cy="50292"/>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a:off x="274320" y="73152"/>
            <a:ext cx="8595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Results &amp; Verification</a:t>
            </a:r>
            <a:endParaRPr b="0" i="0" sz="2400" u="none" cap="none" strike="noStrike">
              <a:solidFill>
                <a:schemeClr val="dk1"/>
              </a:solidFill>
              <a:latin typeface="Calibri"/>
              <a:ea typeface="Calibri"/>
              <a:cs typeface="Calibri"/>
              <a:sym typeface="Calibri"/>
            </a:endParaRPr>
          </a:p>
        </p:txBody>
      </p:sp>
      <p:sp>
        <p:nvSpPr>
          <p:cNvPr id="393" name="Google Shape;393;p11"/>
          <p:cNvSpPr/>
          <p:nvPr/>
        </p:nvSpPr>
        <p:spPr>
          <a:xfrm>
            <a:off x="274320" y="960120"/>
            <a:ext cx="1645920" cy="1097280"/>
          </a:xfrm>
          <a:prstGeom prst="rect">
            <a:avLst/>
          </a:prstGeom>
          <a:solidFill>
            <a:srgbClr val="1C3A5E"/>
          </a:solidFill>
          <a:ln>
            <a:noFill/>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274320" y="1033272"/>
            <a:ext cx="1645920" cy="603504"/>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0A500"/>
              </a:buClr>
              <a:buSzPts val="3000"/>
              <a:buFont typeface="Calibri"/>
              <a:buNone/>
            </a:pPr>
            <a:r>
              <a:rPr b="1" i="0" lang="en-US" sz="3000" u="none" cap="none" strike="noStrike">
                <a:solidFill>
                  <a:srgbClr val="F0A500"/>
                </a:solidFill>
                <a:latin typeface="Calibri"/>
                <a:ea typeface="Calibri"/>
                <a:cs typeface="Calibri"/>
                <a:sym typeface="Calibri"/>
              </a:rPr>
              <a:t>8</a:t>
            </a:r>
            <a:endParaRPr b="0" i="0" sz="3000" u="none" cap="none" strike="noStrike">
              <a:solidFill>
                <a:schemeClr val="dk1"/>
              </a:solidFill>
              <a:latin typeface="Calibri"/>
              <a:ea typeface="Calibri"/>
              <a:cs typeface="Calibri"/>
              <a:sym typeface="Calibri"/>
            </a:endParaRPr>
          </a:p>
        </p:txBody>
      </p:sp>
      <p:sp>
        <p:nvSpPr>
          <p:cNvPr id="395" name="Google Shape;395;p11"/>
          <p:cNvSpPr/>
          <p:nvPr/>
        </p:nvSpPr>
        <p:spPr>
          <a:xfrm>
            <a:off x="274320" y="1596542"/>
            <a:ext cx="1645920" cy="41696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100"/>
              <a:buFont typeface="Calibri"/>
              <a:buNone/>
            </a:pPr>
            <a:r>
              <a:rPr b="0" i="0" lang="en-US" sz="1100" u="none" cap="none" strike="noStrike">
                <a:solidFill>
                  <a:srgbClr val="C8D8F0"/>
                </a:solidFill>
                <a:latin typeface="Calibri"/>
                <a:ea typeface="Calibri"/>
                <a:cs typeface="Calibri"/>
                <a:sym typeface="Calibri"/>
              </a:rPr>
              <a:t>VHDL modules</a:t>
            </a:r>
            <a:endParaRPr b="0" i="0" sz="1100" u="none" cap="none" strike="noStrike">
              <a:solidFill>
                <a:schemeClr val="dk1"/>
              </a:solidFill>
              <a:latin typeface="Calibri"/>
              <a:ea typeface="Calibri"/>
              <a:cs typeface="Calibri"/>
              <a:sym typeface="Calibri"/>
            </a:endParaRPr>
          </a:p>
        </p:txBody>
      </p:sp>
      <p:sp>
        <p:nvSpPr>
          <p:cNvPr id="396" name="Google Shape;396;p11"/>
          <p:cNvSpPr/>
          <p:nvPr/>
        </p:nvSpPr>
        <p:spPr>
          <a:xfrm>
            <a:off x="2103120" y="960120"/>
            <a:ext cx="1645920" cy="1097280"/>
          </a:xfrm>
          <a:prstGeom prst="rect">
            <a:avLst/>
          </a:prstGeom>
          <a:solidFill>
            <a:srgbClr val="1C3A5E"/>
          </a:solidFill>
          <a:ln>
            <a:noFill/>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2103120" y="1033272"/>
            <a:ext cx="1645920" cy="603504"/>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0A500"/>
              </a:buClr>
              <a:buSzPts val="3000"/>
              <a:buFont typeface="Calibri"/>
              <a:buNone/>
            </a:pPr>
            <a:r>
              <a:rPr b="1" i="0" lang="en-US" sz="3000" u="none" cap="none" strike="noStrike">
                <a:solidFill>
                  <a:srgbClr val="F0A500"/>
                </a:solidFill>
                <a:latin typeface="Calibri"/>
                <a:ea typeface="Calibri"/>
                <a:cs typeface="Calibri"/>
                <a:sym typeface="Calibri"/>
              </a:rPr>
              <a:t>9</a:t>
            </a:r>
            <a:endParaRPr b="0" i="0" sz="3000" u="none" cap="none" strike="noStrike">
              <a:solidFill>
                <a:schemeClr val="dk1"/>
              </a:solidFill>
              <a:latin typeface="Calibri"/>
              <a:ea typeface="Calibri"/>
              <a:cs typeface="Calibri"/>
              <a:sym typeface="Calibri"/>
            </a:endParaRPr>
          </a:p>
        </p:txBody>
      </p:sp>
      <p:sp>
        <p:nvSpPr>
          <p:cNvPr id="398" name="Google Shape;398;p11"/>
          <p:cNvSpPr/>
          <p:nvPr/>
        </p:nvSpPr>
        <p:spPr>
          <a:xfrm>
            <a:off x="2103120" y="1596542"/>
            <a:ext cx="1645920" cy="41696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100"/>
              <a:buFont typeface="Calibri"/>
              <a:buNone/>
            </a:pPr>
            <a:r>
              <a:rPr b="0" i="0" lang="en-US" sz="1100" u="none" cap="none" strike="noStrike">
                <a:solidFill>
                  <a:srgbClr val="C8D8F0"/>
                </a:solidFill>
                <a:latin typeface="Calibri"/>
                <a:ea typeface="Calibri"/>
                <a:cs typeface="Calibri"/>
                <a:sym typeface="Calibri"/>
              </a:rPr>
              <a:t>Testbenches</a:t>
            </a:r>
            <a:endParaRPr b="0" i="0" sz="1100" u="none" cap="none" strike="noStrike">
              <a:solidFill>
                <a:schemeClr val="dk1"/>
              </a:solidFill>
              <a:latin typeface="Calibri"/>
              <a:ea typeface="Calibri"/>
              <a:cs typeface="Calibri"/>
              <a:sym typeface="Calibri"/>
            </a:endParaRPr>
          </a:p>
        </p:txBody>
      </p:sp>
      <p:sp>
        <p:nvSpPr>
          <p:cNvPr id="399" name="Google Shape;399;p11"/>
          <p:cNvSpPr/>
          <p:nvPr/>
        </p:nvSpPr>
        <p:spPr>
          <a:xfrm>
            <a:off x="3931920" y="960120"/>
            <a:ext cx="1645920" cy="1097280"/>
          </a:xfrm>
          <a:prstGeom prst="rect">
            <a:avLst/>
          </a:prstGeom>
          <a:solidFill>
            <a:srgbClr val="1C3A5E"/>
          </a:solidFill>
          <a:ln>
            <a:noFill/>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3931920" y="1033272"/>
            <a:ext cx="1645920" cy="603504"/>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0A500"/>
              </a:buClr>
              <a:buSzPts val="3000"/>
              <a:buFont typeface="Calibri"/>
              <a:buNone/>
            </a:pPr>
            <a:r>
              <a:rPr b="1" i="0" lang="en-US" sz="3000" u="none" cap="none" strike="noStrike">
                <a:solidFill>
                  <a:srgbClr val="F0A500"/>
                </a:solidFill>
                <a:latin typeface="Calibri"/>
                <a:ea typeface="Calibri"/>
                <a:cs typeface="Calibri"/>
                <a:sym typeface="Calibri"/>
              </a:rPr>
              <a:t>128</a:t>
            </a:r>
            <a:endParaRPr b="0" i="0" sz="3000" u="none" cap="none" strike="noStrike">
              <a:solidFill>
                <a:schemeClr val="dk1"/>
              </a:solidFill>
              <a:latin typeface="Calibri"/>
              <a:ea typeface="Calibri"/>
              <a:cs typeface="Calibri"/>
              <a:sym typeface="Calibri"/>
            </a:endParaRPr>
          </a:p>
        </p:txBody>
      </p:sp>
      <p:sp>
        <p:nvSpPr>
          <p:cNvPr id="401" name="Google Shape;401;p11"/>
          <p:cNvSpPr/>
          <p:nvPr/>
        </p:nvSpPr>
        <p:spPr>
          <a:xfrm>
            <a:off x="3931920" y="1596542"/>
            <a:ext cx="1645920" cy="41696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100"/>
              <a:buFont typeface="Calibri"/>
              <a:buNone/>
            </a:pPr>
            <a:r>
              <a:rPr b="0" i="0" lang="en-US" sz="1100" u="none" cap="none" strike="noStrike">
                <a:solidFill>
                  <a:srgbClr val="C8D8F0"/>
                </a:solidFill>
                <a:latin typeface="Calibri"/>
                <a:ea typeface="Calibri"/>
                <a:cs typeface="Calibri"/>
                <a:sym typeface="Calibri"/>
              </a:rPr>
              <a:t>TX bytes verified</a:t>
            </a:r>
            <a:endParaRPr b="0" i="0" sz="1100" u="none" cap="none" strike="noStrike">
              <a:solidFill>
                <a:schemeClr val="dk1"/>
              </a:solidFill>
              <a:latin typeface="Calibri"/>
              <a:ea typeface="Calibri"/>
              <a:cs typeface="Calibri"/>
              <a:sym typeface="Calibri"/>
            </a:endParaRPr>
          </a:p>
        </p:txBody>
      </p:sp>
      <p:sp>
        <p:nvSpPr>
          <p:cNvPr id="402" name="Google Shape;402;p11"/>
          <p:cNvSpPr/>
          <p:nvPr/>
        </p:nvSpPr>
        <p:spPr>
          <a:xfrm>
            <a:off x="5760720" y="960120"/>
            <a:ext cx="1645920" cy="1097280"/>
          </a:xfrm>
          <a:prstGeom prst="rect">
            <a:avLst/>
          </a:prstGeom>
          <a:solidFill>
            <a:srgbClr val="1C3A5E"/>
          </a:solidFill>
          <a:ln>
            <a:noFill/>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p:nvPr/>
        </p:nvSpPr>
        <p:spPr>
          <a:xfrm>
            <a:off x="5760720" y="1033272"/>
            <a:ext cx="1645920" cy="603504"/>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0A500"/>
              </a:buClr>
              <a:buSzPts val="3000"/>
              <a:buFont typeface="Calibri"/>
              <a:buNone/>
            </a:pPr>
            <a:r>
              <a:rPr b="1" i="0" lang="en-US" sz="3000" u="none" cap="none" strike="noStrike">
                <a:solidFill>
                  <a:srgbClr val="F0A500"/>
                </a:solidFill>
                <a:latin typeface="Calibri"/>
                <a:ea typeface="Calibri"/>
                <a:cs typeface="Calibri"/>
                <a:sym typeface="Calibri"/>
              </a:rPr>
              <a:t>32</a:t>
            </a:r>
            <a:endParaRPr b="0" i="0" sz="3000" u="none" cap="none" strike="noStrike">
              <a:solidFill>
                <a:schemeClr val="dk1"/>
              </a:solidFill>
              <a:latin typeface="Calibri"/>
              <a:ea typeface="Calibri"/>
              <a:cs typeface="Calibri"/>
              <a:sym typeface="Calibri"/>
            </a:endParaRPr>
          </a:p>
        </p:txBody>
      </p:sp>
      <p:sp>
        <p:nvSpPr>
          <p:cNvPr id="404" name="Google Shape;404;p11"/>
          <p:cNvSpPr/>
          <p:nvPr/>
        </p:nvSpPr>
        <p:spPr>
          <a:xfrm>
            <a:off x="5760720" y="1596542"/>
            <a:ext cx="1645920" cy="41696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100"/>
              <a:buFont typeface="Calibri"/>
              <a:buNone/>
            </a:pPr>
            <a:r>
              <a:rPr b="0" i="0" lang="en-US" sz="1100" u="none" cap="none" strike="noStrike">
                <a:solidFill>
                  <a:srgbClr val="C8D8F0"/>
                </a:solidFill>
                <a:latin typeface="Calibri"/>
                <a:ea typeface="Calibri"/>
                <a:cs typeface="Calibri"/>
                <a:sym typeface="Calibri"/>
              </a:rPr>
              <a:t>RAM rows packed</a:t>
            </a:r>
            <a:endParaRPr b="0" i="0" sz="1100" u="none" cap="none" strike="noStrike">
              <a:solidFill>
                <a:schemeClr val="dk1"/>
              </a:solidFill>
              <a:latin typeface="Calibri"/>
              <a:ea typeface="Calibri"/>
              <a:cs typeface="Calibri"/>
              <a:sym typeface="Calibri"/>
            </a:endParaRPr>
          </a:p>
        </p:txBody>
      </p:sp>
      <p:sp>
        <p:nvSpPr>
          <p:cNvPr id="405" name="Google Shape;405;p11"/>
          <p:cNvSpPr/>
          <p:nvPr/>
        </p:nvSpPr>
        <p:spPr>
          <a:xfrm>
            <a:off x="7589520" y="960120"/>
            <a:ext cx="1280160" cy="1097280"/>
          </a:xfrm>
          <a:prstGeom prst="rect">
            <a:avLst/>
          </a:prstGeom>
          <a:solidFill>
            <a:srgbClr val="1C3A5E"/>
          </a:solidFill>
          <a:ln>
            <a:noFill/>
          </a:ln>
          <a:effectLst>
            <a:outerShdw blurRad="508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1"/>
          <p:cNvSpPr/>
          <p:nvPr/>
        </p:nvSpPr>
        <p:spPr>
          <a:xfrm>
            <a:off x="7589520" y="1033272"/>
            <a:ext cx="1280160" cy="603504"/>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0A500"/>
              </a:buClr>
              <a:buSzPts val="3000"/>
              <a:buFont typeface="Calibri"/>
              <a:buNone/>
            </a:pPr>
            <a:r>
              <a:rPr b="1" i="0" lang="en-US" sz="3000" u="none" cap="none" strike="noStrike">
                <a:solidFill>
                  <a:srgbClr val="F0A500"/>
                </a:solidFill>
                <a:latin typeface="Calibri"/>
                <a:ea typeface="Calibri"/>
                <a:cs typeface="Calibri"/>
                <a:sym typeface="Calibri"/>
              </a:rPr>
              <a:t>9600</a:t>
            </a:r>
            <a:endParaRPr b="0" i="0" sz="3000" u="none" cap="none" strike="noStrike">
              <a:solidFill>
                <a:schemeClr val="dk1"/>
              </a:solidFill>
              <a:latin typeface="Calibri"/>
              <a:ea typeface="Calibri"/>
              <a:cs typeface="Calibri"/>
              <a:sym typeface="Calibri"/>
            </a:endParaRPr>
          </a:p>
        </p:txBody>
      </p:sp>
      <p:sp>
        <p:nvSpPr>
          <p:cNvPr id="407" name="Google Shape;407;p11"/>
          <p:cNvSpPr/>
          <p:nvPr/>
        </p:nvSpPr>
        <p:spPr>
          <a:xfrm>
            <a:off x="7589520" y="1596542"/>
            <a:ext cx="1280160" cy="41696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8D8F0"/>
              </a:buClr>
              <a:buSzPts val="1100"/>
              <a:buFont typeface="Calibri"/>
              <a:buNone/>
            </a:pPr>
            <a:r>
              <a:rPr b="0" i="0" lang="en-US" sz="1100" u="none" cap="none" strike="noStrike">
                <a:solidFill>
                  <a:srgbClr val="C8D8F0"/>
                </a:solidFill>
                <a:latin typeface="Calibri"/>
                <a:ea typeface="Calibri"/>
                <a:cs typeface="Calibri"/>
                <a:sym typeface="Calibri"/>
              </a:rPr>
              <a:t>Baud rate</a:t>
            </a:r>
            <a:endParaRPr b="0" i="0" sz="1100" u="none" cap="none" strike="noStrike">
              <a:solidFill>
                <a:schemeClr val="dk1"/>
              </a:solidFill>
              <a:latin typeface="Calibri"/>
              <a:ea typeface="Calibri"/>
              <a:cs typeface="Calibri"/>
              <a:sym typeface="Calibri"/>
            </a:endParaRPr>
          </a:p>
        </p:txBody>
      </p:sp>
      <p:sp>
        <p:nvSpPr>
          <p:cNvPr id="408" name="Google Shape;408;p11"/>
          <p:cNvSpPr/>
          <p:nvPr/>
        </p:nvSpPr>
        <p:spPr>
          <a:xfrm>
            <a:off x="274320" y="2194560"/>
            <a:ext cx="4160520" cy="566928"/>
          </a:xfrm>
          <a:prstGeom prst="rect">
            <a:avLst/>
          </a:prstGeom>
          <a:solidFill>
            <a:srgbClr val="EAF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365760" y="2267712"/>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baud_gen</a:t>
            </a:r>
            <a:endParaRPr b="0" i="0" sz="1100" u="none" cap="none" strike="noStrike">
              <a:solidFill>
                <a:schemeClr val="dk1"/>
              </a:solidFill>
              <a:latin typeface="Calibri"/>
              <a:ea typeface="Calibri"/>
              <a:cs typeface="Calibri"/>
              <a:sym typeface="Calibri"/>
            </a:endParaRPr>
          </a:p>
        </p:txBody>
      </p:sp>
      <p:sp>
        <p:nvSpPr>
          <p:cNvPr id="410" name="Google Shape;410;p11"/>
          <p:cNvSpPr/>
          <p:nvPr/>
        </p:nvSpPr>
        <p:spPr>
          <a:xfrm>
            <a:off x="1874520" y="2267712"/>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Tick period 6.51 µs verified</a:t>
            </a:r>
            <a:endParaRPr b="0" i="0" sz="1100" u="none" cap="none" strike="noStrike">
              <a:solidFill>
                <a:schemeClr val="dk1"/>
              </a:solidFill>
              <a:latin typeface="Calibri"/>
              <a:ea typeface="Calibri"/>
              <a:cs typeface="Calibri"/>
              <a:sym typeface="Calibri"/>
            </a:endParaRPr>
          </a:p>
        </p:txBody>
      </p:sp>
      <p:sp>
        <p:nvSpPr>
          <p:cNvPr id="411" name="Google Shape;411;p11"/>
          <p:cNvSpPr/>
          <p:nvPr/>
        </p:nvSpPr>
        <p:spPr>
          <a:xfrm>
            <a:off x="4709160" y="2194560"/>
            <a:ext cx="4160520" cy="56692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4800600" y="2267712"/>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uart_rx</a:t>
            </a:r>
            <a:endParaRPr b="0" i="0" sz="1100" u="none" cap="none" strike="noStrike">
              <a:solidFill>
                <a:schemeClr val="dk1"/>
              </a:solidFill>
              <a:latin typeface="Calibri"/>
              <a:ea typeface="Calibri"/>
              <a:cs typeface="Calibri"/>
              <a:sym typeface="Calibri"/>
            </a:endParaRPr>
          </a:p>
        </p:txBody>
      </p:sp>
      <p:sp>
        <p:nvSpPr>
          <p:cNvPr id="413" name="Google Shape;413;p11"/>
          <p:cNvSpPr/>
          <p:nvPr/>
        </p:nvSpPr>
        <p:spPr>
          <a:xfrm>
            <a:off x="6309360" y="2267712"/>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4 byte patterns all pass</a:t>
            </a:r>
            <a:endParaRPr b="0" i="0" sz="1100" u="none" cap="none" strike="noStrike">
              <a:solidFill>
                <a:schemeClr val="dk1"/>
              </a:solidFill>
              <a:latin typeface="Calibri"/>
              <a:ea typeface="Calibri"/>
              <a:cs typeface="Calibri"/>
              <a:sym typeface="Calibri"/>
            </a:endParaRPr>
          </a:p>
        </p:txBody>
      </p:sp>
      <p:sp>
        <p:nvSpPr>
          <p:cNvPr id="414" name="Google Shape;414;p11"/>
          <p:cNvSpPr/>
          <p:nvPr/>
        </p:nvSpPr>
        <p:spPr>
          <a:xfrm>
            <a:off x="274320" y="2852928"/>
            <a:ext cx="4160520" cy="566928"/>
          </a:xfrm>
          <a:prstGeom prst="rect">
            <a:avLst/>
          </a:prstGeom>
          <a:solidFill>
            <a:srgbClr val="EAF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p:nvPr/>
        </p:nvSpPr>
        <p:spPr>
          <a:xfrm>
            <a:off x="365760" y="29260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uart_tx</a:t>
            </a:r>
            <a:endParaRPr b="0" i="0" sz="1100" u="none" cap="none" strike="noStrike">
              <a:solidFill>
                <a:schemeClr val="dk1"/>
              </a:solidFill>
              <a:latin typeface="Calibri"/>
              <a:ea typeface="Calibri"/>
              <a:cs typeface="Calibri"/>
              <a:sym typeface="Calibri"/>
            </a:endParaRPr>
          </a:p>
        </p:txBody>
      </p:sp>
      <p:sp>
        <p:nvSpPr>
          <p:cNvPr id="416" name="Google Shape;416;p11"/>
          <p:cNvSpPr/>
          <p:nvPr/>
        </p:nvSpPr>
        <p:spPr>
          <a:xfrm>
            <a:off x="1874520" y="2926080"/>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2 byte patterns serial output correct</a:t>
            </a:r>
            <a:endParaRPr b="0" i="0" sz="1100" u="none" cap="none" strike="noStrike">
              <a:solidFill>
                <a:schemeClr val="dk1"/>
              </a:solidFill>
              <a:latin typeface="Calibri"/>
              <a:ea typeface="Calibri"/>
              <a:cs typeface="Calibri"/>
              <a:sym typeface="Calibri"/>
            </a:endParaRPr>
          </a:p>
        </p:txBody>
      </p:sp>
      <p:sp>
        <p:nvSpPr>
          <p:cNvPr id="417" name="Google Shape;417;p11"/>
          <p:cNvSpPr/>
          <p:nvPr/>
        </p:nvSpPr>
        <p:spPr>
          <a:xfrm>
            <a:off x="4709160" y="2852928"/>
            <a:ext cx="4160520" cy="56692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a:off x="4800600" y="29260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fifo</a:t>
            </a:r>
            <a:endParaRPr b="0" i="0" sz="1100" u="none" cap="none" strike="noStrike">
              <a:solidFill>
                <a:schemeClr val="dk1"/>
              </a:solidFill>
              <a:latin typeface="Calibri"/>
              <a:ea typeface="Calibri"/>
              <a:cs typeface="Calibri"/>
              <a:sym typeface="Calibri"/>
            </a:endParaRPr>
          </a:p>
        </p:txBody>
      </p:sp>
      <p:sp>
        <p:nvSpPr>
          <p:cNvPr id="419" name="Google Shape;419;p11"/>
          <p:cNvSpPr/>
          <p:nvPr/>
        </p:nvSpPr>
        <p:spPr>
          <a:xfrm>
            <a:off x="6309360" y="2926080"/>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8 test cases incl. full/empty/sim-rw</a:t>
            </a:r>
            <a:endParaRPr b="0" i="0" sz="1100" u="none" cap="none" strike="noStrike">
              <a:solidFill>
                <a:schemeClr val="dk1"/>
              </a:solidFill>
              <a:latin typeface="Calibri"/>
              <a:ea typeface="Calibri"/>
              <a:cs typeface="Calibri"/>
              <a:sym typeface="Calibri"/>
            </a:endParaRPr>
          </a:p>
        </p:txBody>
      </p:sp>
      <p:sp>
        <p:nvSpPr>
          <p:cNvPr id="420" name="Google Shape;420;p11"/>
          <p:cNvSpPr/>
          <p:nvPr/>
        </p:nvSpPr>
        <p:spPr>
          <a:xfrm>
            <a:off x="274320" y="3511296"/>
            <a:ext cx="4160520" cy="566928"/>
          </a:xfrm>
          <a:prstGeom prst="rect">
            <a:avLst/>
          </a:prstGeom>
          <a:solidFill>
            <a:srgbClr val="EAF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a:off x="365760" y="3584448"/>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ram</a:t>
            </a:r>
            <a:endParaRPr b="0" i="0" sz="1100" u="none" cap="none" strike="noStrike">
              <a:solidFill>
                <a:schemeClr val="dk1"/>
              </a:solidFill>
              <a:latin typeface="Calibri"/>
              <a:ea typeface="Calibri"/>
              <a:cs typeface="Calibri"/>
              <a:sym typeface="Calibri"/>
            </a:endParaRPr>
          </a:p>
        </p:txBody>
      </p:sp>
      <p:sp>
        <p:nvSpPr>
          <p:cNvPr id="422" name="Google Shape;422;p11"/>
          <p:cNvSpPr/>
          <p:nvPr/>
        </p:nvSpPr>
        <p:spPr>
          <a:xfrm>
            <a:off x="1874520" y="3584448"/>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Write, readback, overwrite all pass</a:t>
            </a:r>
            <a:endParaRPr b="0" i="0" sz="1100" u="none" cap="none" strike="noStrike">
              <a:solidFill>
                <a:schemeClr val="dk1"/>
              </a:solidFill>
              <a:latin typeface="Calibri"/>
              <a:ea typeface="Calibri"/>
              <a:cs typeface="Calibri"/>
              <a:sym typeface="Calibri"/>
            </a:endParaRPr>
          </a:p>
        </p:txBody>
      </p:sp>
      <p:sp>
        <p:nvSpPr>
          <p:cNvPr id="423" name="Google Shape;423;p11"/>
          <p:cNvSpPr/>
          <p:nvPr/>
        </p:nvSpPr>
        <p:spPr>
          <a:xfrm>
            <a:off x="4709160" y="3511296"/>
            <a:ext cx="4160520" cy="56692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1"/>
          <p:cNvSpPr/>
          <p:nvPr/>
        </p:nvSpPr>
        <p:spPr>
          <a:xfrm>
            <a:off x="4800600" y="3584448"/>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uart_fsm</a:t>
            </a:r>
            <a:endParaRPr b="0" i="0" sz="1100" u="none" cap="none" strike="noStrike">
              <a:solidFill>
                <a:schemeClr val="dk1"/>
              </a:solidFill>
              <a:latin typeface="Calibri"/>
              <a:ea typeface="Calibri"/>
              <a:cs typeface="Calibri"/>
              <a:sym typeface="Calibri"/>
            </a:endParaRPr>
          </a:p>
        </p:txBody>
      </p:sp>
      <p:sp>
        <p:nvSpPr>
          <p:cNvPr id="425" name="Google Shape;425;p11"/>
          <p:cNvSpPr/>
          <p:nvPr/>
        </p:nvSpPr>
        <p:spPr>
          <a:xfrm>
            <a:off x="6309360" y="3584448"/>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3 RAM words verified (rows 0,1,31)</a:t>
            </a:r>
            <a:endParaRPr b="0" i="0" sz="1100" u="none" cap="none" strike="noStrike">
              <a:solidFill>
                <a:schemeClr val="dk1"/>
              </a:solidFill>
              <a:latin typeface="Calibri"/>
              <a:ea typeface="Calibri"/>
              <a:cs typeface="Calibri"/>
              <a:sym typeface="Calibri"/>
            </a:endParaRPr>
          </a:p>
        </p:txBody>
      </p:sp>
      <p:sp>
        <p:nvSpPr>
          <p:cNvPr id="426" name="Google Shape;426;p11"/>
          <p:cNvSpPr/>
          <p:nvPr/>
        </p:nvSpPr>
        <p:spPr>
          <a:xfrm>
            <a:off x="274320" y="4169664"/>
            <a:ext cx="4160520" cy="566928"/>
          </a:xfrm>
          <a:prstGeom prst="rect">
            <a:avLst/>
          </a:prstGeom>
          <a:solidFill>
            <a:srgbClr val="EAF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1"/>
          <p:cNvSpPr/>
          <p:nvPr/>
        </p:nvSpPr>
        <p:spPr>
          <a:xfrm>
            <a:off x="365760" y="4242816"/>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classifier</a:t>
            </a:r>
            <a:endParaRPr b="0" i="0" sz="1100" u="none" cap="none" strike="noStrike">
              <a:solidFill>
                <a:schemeClr val="dk1"/>
              </a:solidFill>
              <a:latin typeface="Calibri"/>
              <a:ea typeface="Calibri"/>
              <a:cs typeface="Calibri"/>
              <a:sym typeface="Calibri"/>
            </a:endParaRPr>
          </a:p>
        </p:txBody>
      </p:sp>
      <p:sp>
        <p:nvSpPr>
          <p:cNvPr id="428" name="Google Shape;428;p11"/>
          <p:cNvSpPr/>
          <p:nvPr/>
        </p:nvSpPr>
        <p:spPr>
          <a:xfrm>
            <a:off x="1874520" y="4242816"/>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128/128 results correct incl. boundaries</a:t>
            </a:r>
            <a:endParaRPr b="0" i="0" sz="1100" u="none" cap="none" strike="noStrike">
              <a:solidFill>
                <a:schemeClr val="dk1"/>
              </a:solidFill>
              <a:latin typeface="Calibri"/>
              <a:ea typeface="Calibri"/>
              <a:cs typeface="Calibri"/>
              <a:sym typeface="Calibri"/>
            </a:endParaRPr>
          </a:p>
        </p:txBody>
      </p:sp>
      <p:sp>
        <p:nvSpPr>
          <p:cNvPr id="429" name="Google Shape;429;p11"/>
          <p:cNvSpPr/>
          <p:nvPr/>
        </p:nvSpPr>
        <p:spPr>
          <a:xfrm>
            <a:off x="4709160" y="4169664"/>
            <a:ext cx="4160520" cy="56692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4800600" y="4242816"/>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A5E"/>
              </a:buClr>
              <a:buSzPts val="1100"/>
              <a:buFont typeface="Consolas"/>
              <a:buNone/>
            </a:pPr>
            <a:r>
              <a:rPr b="1" i="0" lang="en-US" sz="1100" u="none" cap="none" strike="noStrike">
                <a:solidFill>
                  <a:srgbClr val="1C3A5E"/>
                </a:solidFill>
                <a:latin typeface="Consolas"/>
                <a:ea typeface="Consolas"/>
                <a:cs typeface="Consolas"/>
                <a:sym typeface="Consolas"/>
              </a:rPr>
              <a:t>uart_top</a:t>
            </a:r>
            <a:endParaRPr b="0" i="0" sz="1100" u="none" cap="none" strike="noStrike">
              <a:solidFill>
                <a:schemeClr val="dk1"/>
              </a:solidFill>
              <a:latin typeface="Calibri"/>
              <a:ea typeface="Calibri"/>
              <a:cs typeface="Calibri"/>
              <a:sym typeface="Calibri"/>
            </a:endParaRPr>
          </a:p>
        </p:txBody>
      </p:sp>
      <p:sp>
        <p:nvSpPr>
          <p:cNvPr id="431" name="Google Shape;431;p11"/>
          <p:cNvSpPr/>
          <p:nvPr/>
        </p:nvSpPr>
        <p:spPr>
          <a:xfrm>
            <a:off x="6309360" y="4242816"/>
            <a:ext cx="246888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1A"/>
              </a:buClr>
              <a:buSzPts val="1100"/>
              <a:buFont typeface="Calibri"/>
              <a:buNone/>
            </a:pPr>
            <a:r>
              <a:rPr b="0" i="0" lang="en-US" sz="1100" u="none" cap="none" strike="noStrike">
                <a:solidFill>
                  <a:srgbClr val="1A6B1A"/>
                </a:solidFill>
                <a:latin typeface="Calibri"/>
                <a:ea typeface="Calibri"/>
                <a:cs typeface="Calibri"/>
                <a:sym typeface="Calibri"/>
              </a:rPr>
              <a:t>✓ Full end-to-end integration all 128 TX bytes match</a:t>
            </a:r>
            <a:endParaRPr b="0" i="0" sz="1100" u="none" cap="none" strike="noStrike">
              <a:solidFill>
                <a:schemeClr val="dk1"/>
              </a:solidFill>
              <a:latin typeface="Calibri"/>
              <a:ea typeface="Calibri"/>
              <a:cs typeface="Calibri"/>
              <a:sym typeface="Calibri"/>
            </a:endParaRPr>
          </a:p>
        </p:txBody>
      </p:sp>
      <p:sp>
        <p:nvSpPr>
          <p:cNvPr id="432" name="Google Shape;432;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3A5E"/>
        </a:solidFill>
      </p:bgPr>
    </p:bg>
    <p:spTree>
      <p:nvGrpSpPr>
        <p:cNvPr id="437" name="Shape 437"/>
        <p:cNvGrpSpPr/>
        <p:nvPr/>
      </p:nvGrpSpPr>
      <p:grpSpPr>
        <a:xfrm>
          <a:off x="0" y="0"/>
          <a:ext cx="0" cy="0"/>
          <a:chOff x="0" y="0"/>
          <a:chExt cx="0" cy="0"/>
        </a:xfrm>
      </p:grpSpPr>
      <p:sp>
        <p:nvSpPr>
          <p:cNvPr id="438" name="Google Shape;438;p12"/>
          <p:cNvSpPr/>
          <p:nvPr/>
        </p:nvSpPr>
        <p:spPr>
          <a:xfrm>
            <a:off x="0" y="0"/>
            <a:ext cx="9144000" cy="5143500"/>
          </a:xfrm>
          <a:prstGeom prst="rect">
            <a:avLst/>
          </a:prstGeom>
          <a:solidFill>
            <a:srgbClr val="0F20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2"/>
          <p:cNvSpPr/>
          <p:nvPr/>
        </p:nvSpPr>
        <p:spPr>
          <a:xfrm>
            <a:off x="0" y="2103120"/>
            <a:ext cx="9144000" cy="54864"/>
          </a:xfrm>
          <a:prstGeom prst="rect">
            <a:avLst/>
          </a:prstGeom>
          <a:solidFill>
            <a:srgbClr val="F0A5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2"/>
          <p:cNvSpPr/>
          <p:nvPr/>
        </p:nvSpPr>
        <p:spPr>
          <a:xfrm>
            <a:off x="548640" y="1409294"/>
            <a:ext cx="8046600" cy="8229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Conclusion</a:t>
            </a:r>
            <a:endParaRPr b="0" i="0" sz="4000" u="none" cap="none" strike="noStrike">
              <a:solidFill>
                <a:schemeClr val="dk1"/>
              </a:solidFill>
              <a:latin typeface="Calibri"/>
              <a:ea typeface="Calibri"/>
              <a:cs typeface="Calibri"/>
              <a:sym typeface="Calibri"/>
            </a:endParaRPr>
          </a:p>
        </p:txBody>
      </p:sp>
      <p:sp>
        <p:nvSpPr>
          <p:cNvPr id="441" name="Google Shape;441;p12"/>
          <p:cNvSpPr/>
          <p:nvPr/>
        </p:nvSpPr>
        <p:spPr>
          <a:xfrm>
            <a:off x="731520" y="2468880"/>
            <a:ext cx="7680960" cy="2286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C8D8F0"/>
              </a:buClr>
              <a:buSzPts val="1700"/>
              <a:buFont typeface="Calibri"/>
              <a:buChar char="•"/>
            </a:pPr>
            <a:r>
              <a:rPr b="0" i="0" lang="en-US" sz="1700" u="none" cap="none" strike="noStrike">
                <a:solidFill>
                  <a:srgbClr val="C8D8F0"/>
                </a:solidFill>
                <a:latin typeface="Calibri"/>
                <a:ea typeface="Calibri"/>
                <a:cs typeface="Calibri"/>
                <a:sym typeface="Calibri"/>
              </a:rPr>
              <a:t>Complete UART subsystem verified from baud_gen to end-to-end TX output</a:t>
            </a:r>
            <a:endParaRPr b="0" i="0" sz="17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8D8F0"/>
              </a:buClr>
              <a:buSzPts val="1700"/>
              <a:buFont typeface="Calibri"/>
              <a:buChar char="•"/>
            </a:pPr>
            <a:r>
              <a:rPr b="0" i="0" lang="en-US" sz="1700" u="none" cap="none" strike="noStrike">
                <a:solidFill>
                  <a:srgbClr val="C8D8F0"/>
                </a:solidFill>
                <a:latin typeface="Calibri"/>
                <a:ea typeface="Calibri"/>
                <a:cs typeface="Calibri"/>
                <a:sym typeface="Calibri"/>
              </a:rPr>
              <a:t>FSM-driven FIFO→RAM packing with little-endian byte ordering</a:t>
            </a:r>
            <a:endParaRPr b="0" i="0" sz="17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8D8F0"/>
              </a:buClr>
              <a:buSzPts val="1700"/>
              <a:buFont typeface="Calibri"/>
              <a:buChar char="•"/>
            </a:pPr>
            <a:r>
              <a:rPr b="0" i="0" lang="en-US" sz="1700" u="none" cap="none" strike="noStrike">
                <a:solidFill>
                  <a:srgbClr val="C8D8F0"/>
                </a:solidFill>
                <a:latin typeface="Calibri"/>
                <a:ea typeface="Calibri"/>
                <a:cs typeface="Calibri"/>
                <a:sym typeface="Calibri"/>
              </a:rPr>
              <a:t>Classification engine categorizes all 128 bytes correctly at full simulation speed</a:t>
            </a:r>
            <a:endParaRPr b="0" i="0" sz="17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8D8F0"/>
              </a:buClr>
              <a:buSzPts val="1700"/>
              <a:buFont typeface="Calibri"/>
              <a:buChar char="•"/>
            </a:pPr>
            <a:r>
              <a:rPr b="0" i="0" lang="en-US" sz="1700" u="none" cap="none" strike="noStrike">
                <a:solidFill>
                  <a:srgbClr val="C8D8F0"/>
                </a:solidFill>
                <a:latin typeface="Calibri"/>
                <a:ea typeface="Calibri"/>
                <a:cs typeface="Calibri"/>
                <a:sym typeface="Calibri"/>
              </a:rPr>
              <a:t>Phase-based RAM arbitration keeps FSM and classifier fully decoupled</a:t>
            </a:r>
            <a:endParaRPr b="0" i="0" sz="17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8D8F0"/>
              </a:buClr>
              <a:buSzPts val="1700"/>
              <a:buFont typeface="Calibri"/>
              <a:buChar char="•"/>
            </a:pPr>
            <a:r>
              <a:rPr b="0" i="0" lang="en-US" sz="1700" u="none" cap="none" strike="noStrike">
                <a:solidFill>
                  <a:srgbClr val="C8D8F0"/>
                </a:solidFill>
                <a:latin typeface="Calibri"/>
                <a:ea typeface="Calibri"/>
                <a:cs typeface="Calibri"/>
                <a:sym typeface="Calibri"/>
              </a:rPr>
              <a:t>All modules </a:t>
            </a:r>
            <a:r>
              <a:rPr lang="en-US" sz="1700">
                <a:solidFill>
                  <a:srgbClr val="C8D8F0"/>
                </a:solidFill>
                <a:latin typeface="Calibri"/>
                <a:ea typeface="Calibri"/>
                <a:cs typeface="Calibri"/>
                <a:sym typeface="Calibri"/>
              </a:rPr>
              <a:t>verified with individual </a:t>
            </a:r>
            <a:r>
              <a:rPr lang="en-US" sz="1700">
                <a:solidFill>
                  <a:srgbClr val="C8D8F0"/>
                </a:solidFill>
                <a:latin typeface="Calibri"/>
                <a:ea typeface="Calibri"/>
                <a:cs typeface="Calibri"/>
                <a:sym typeface="Calibri"/>
              </a:rPr>
              <a:t>testbenches</a:t>
            </a:r>
            <a:r>
              <a:rPr lang="en-US" sz="1700">
                <a:solidFill>
                  <a:srgbClr val="C8D8F0"/>
                </a:solidFill>
                <a:latin typeface="Calibri"/>
                <a:ea typeface="Calibri"/>
                <a:cs typeface="Calibri"/>
                <a:sym typeface="Calibri"/>
              </a:rPr>
              <a:t>,</a:t>
            </a:r>
            <a:r>
              <a:rPr b="0" i="0" lang="en-US" sz="1700" u="none" cap="none" strike="noStrike">
                <a:solidFill>
                  <a:srgbClr val="C8D8F0"/>
                </a:solidFill>
                <a:latin typeface="Calibri"/>
                <a:ea typeface="Calibri"/>
                <a:cs typeface="Calibri"/>
                <a:sym typeface="Calibri"/>
              </a:rPr>
              <a:t> full system integration passes 128/128 TX byte check</a:t>
            </a:r>
            <a:endParaRPr b="0" i="0" sz="1700" u="none" cap="none" strike="noStrike">
              <a:solidFill>
                <a:schemeClr val="dk1"/>
              </a:solidFill>
              <a:latin typeface="Calibri"/>
              <a:ea typeface="Calibri"/>
              <a:cs typeface="Calibri"/>
              <a:sym typeface="Calibri"/>
            </a:endParaRPr>
          </a:p>
        </p:txBody>
      </p:sp>
      <p:sp>
        <p:nvSpPr>
          <p:cNvPr id="442" name="Google Shape;442;p12"/>
          <p:cNvSpPr/>
          <p:nvPr/>
        </p:nvSpPr>
        <p:spPr>
          <a:xfrm>
            <a:off x="457200" y="470916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ECGR 4146/5146 — Spring 2026  |  Alberto · Kenneth · Eri</a:t>
            </a:r>
            <a:r>
              <a:rPr lang="en-US" sz="1100">
                <a:solidFill>
                  <a:srgbClr val="64748B"/>
                </a:solidFill>
                <a:latin typeface="Calibri"/>
                <a:ea typeface="Calibri"/>
                <a:cs typeface="Calibri"/>
                <a:sym typeface="Calibri"/>
              </a:rPr>
              <a:t>k</a:t>
            </a:r>
            <a:r>
              <a:rPr b="0" i="0" lang="en-US" sz="1100" u="none" cap="none" strike="noStrike">
                <a:solidFill>
                  <a:srgbClr val="64748B"/>
                </a:solidFill>
                <a:latin typeface="Calibri"/>
                <a:ea typeface="Calibri"/>
                <a:cs typeface="Calibri"/>
                <a:sym typeface="Calibri"/>
              </a:rPr>
              <a:t> · Sebastian</a:t>
            </a:r>
            <a:endParaRPr b="0" i="0" sz="1100" u="none" cap="none" strike="noStrike">
              <a:solidFill>
                <a:schemeClr val="dk1"/>
              </a:solidFill>
              <a:latin typeface="Calibri"/>
              <a:ea typeface="Calibri"/>
              <a:cs typeface="Calibri"/>
              <a:sym typeface="Calibri"/>
            </a:endParaRPr>
          </a:p>
        </p:txBody>
      </p:sp>
      <p:sp>
        <p:nvSpPr>
          <p:cNvPr id="443" name="Google Shape;443;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2026-04-28T13:48:14Z</dcterms:created>
  <dc:creator>Alberto Hernandez</dc:creator>
</cp:coreProperties>
</file>